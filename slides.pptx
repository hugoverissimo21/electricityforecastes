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08" r:id="rId1"/>
  </p:sldMasterIdLst>
  <p:notesMasterIdLst>
    <p:notesMasterId r:id="rId21"/>
  </p:notesMasterIdLst>
  <p:sldIdLst>
    <p:sldId id="256" r:id="rId2"/>
    <p:sldId id="257" r:id="rId3"/>
    <p:sldId id="269" r:id="rId4"/>
    <p:sldId id="284" r:id="rId5"/>
    <p:sldId id="285" r:id="rId6"/>
    <p:sldId id="286" r:id="rId7"/>
    <p:sldId id="261" r:id="rId8"/>
    <p:sldId id="287" r:id="rId9"/>
    <p:sldId id="273" r:id="rId10"/>
    <p:sldId id="288" r:id="rId11"/>
    <p:sldId id="264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05"/>
    <p:restoredTop sz="94268"/>
  </p:normalViewPr>
  <p:slideViewPr>
    <p:cSldViewPr snapToGrid="0">
      <p:cViewPr>
        <p:scale>
          <a:sx n="73" d="100"/>
          <a:sy n="73" d="100"/>
        </p:scale>
        <p:origin x="328" y="116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F231F2-2ABE-4CD7-AE05-A9C81423AC68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7C2752F-04FB-4B57-8321-2B84D7E62A6D}">
      <dgm:prSet/>
      <dgm:spPr/>
      <dgm:t>
        <a:bodyPr/>
        <a:lstStyle/>
        <a:p>
          <a:r>
            <a:rPr lang="pt-PT" dirty="0"/>
            <a:t>SARIMA</a:t>
          </a:r>
          <a:endParaRPr lang="en-US" dirty="0"/>
        </a:p>
      </dgm:t>
    </dgm:pt>
    <dgm:pt modelId="{C0A62DE7-CF8E-4951-95A9-3EFDE8E41A95}" type="parTrans" cxnId="{617DD90A-2987-40EC-9CBB-3E98DAFA358D}">
      <dgm:prSet/>
      <dgm:spPr/>
      <dgm:t>
        <a:bodyPr/>
        <a:lstStyle/>
        <a:p>
          <a:endParaRPr lang="en-US"/>
        </a:p>
      </dgm:t>
    </dgm:pt>
    <dgm:pt modelId="{D106129B-9C5D-4586-BC56-3566487926C5}" type="sibTrans" cxnId="{617DD90A-2987-40EC-9CBB-3E98DAFA358D}">
      <dgm:prSet/>
      <dgm:spPr/>
      <dgm:t>
        <a:bodyPr/>
        <a:lstStyle/>
        <a:p>
          <a:endParaRPr lang="en-US"/>
        </a:p>
      </dgm:t>
    </dgm:pt>
    <dgm:pt modelId="{D37E16EA-CA4A-48EB-8082-652D7FBE274F}">
      <dgm:prSet/>
      <dgm:spPr/>
      <dgm:t>
        <a:bodyPr/>
        <a:lstStyle/>
        <a:p>
          <a:r>
            <a:rPr lang="pt-PT" dirty="0"/>
            <a:t>GARCH</a:t>
          </a:r>
          <a:endParaRPr lang="en-US" dirty="0"/>
        </a:p>
      </dgm:t>
    </dgm:pt>
    <dgm:pt modelId="{E14A8C3D-4631-4EF8-A9CD-23CB22B5A93A}" type="parTrans" cxnId="{5F8456FE-0934-4912-81EE-4433B8F4B49E}">
      <dgm:prSet/>
      <dgm:spPr/>
      <dgm:t>
        <a:bodyPr/>
        <a:lstStyle/>
        <a:p>
          <a:endParaRPr lang="en-US"/>
        </a:p>
      </dgm:t>
    </dgm:pt>
    <dgm:pt modelId="{56459D47-AA0B-4A2C-B072-6F5C9B4EF07C}" type="sibTrans" cxnId="{5F8456FE-0934-4912-81EE-4433B8F4B49E}">
      <dgm:prSet/>
      <dgm:spPr/>
      <dgm:t>
        <a:bodyPr/>
        <a:lstStyle/>
        <a:p>
          <a:endParaRPr lang="en-US"/>
        </a:p>
      </dgm:t>
    </dgm:pt>
    <dgm:pt modelId="{4AB04389-48F6-44BB-A53A-B902FB958C4F}">
      <dgm:prSet/>
      <dgm:spPr/>
      <dgm:t>
        <a:bodyPr/>
        <a:lstStyle/>
        <a:p>
          <a:r>
            <a:rPr lang="pt-PT" dirty="0"/>
            <a:t>ETS</a:t>
          </a:r>
          <a:endParaRPr lang="en-US" dirty="0"/>
        </a:p>
      </dgm:t>
    </dgm:pt>
    <dgm:pt modelId="{7EB586CF-7F82-4DED-B770-B78F85971D88}" type="parTrans" cxnId="{6C361EC1-6898-44C9-9AF3-03B7E25EC5A0}">
      <dgm:prSet/>
      <dgm:spPr/>
      <dgm:t>
        <a:bodyPr/>
        <a:lstStyle/>
        <a:p>
          <a:endParaRPr lang="en-US"/>
        </a:p>
      </dgm:t>
    </dgm:pt>
    <dgm:pt modelId="{F1B2DF70-4C51-4159-BAB4-D46C1097497B}" type="sibTrans" cxnId="{6C361EC1-6898-44C9-9AF3-03B7E25EC5A0}">
      <dgm:prSet/>
      <dgm:spPr/>
      <dgm:t>
        <a:bodyPr/>
        <a:lstStyle/>
        <a:p>
          <a:endParaRPr lang="en-US"/>
        </a:p>
      </dgm:t>
    </dgm:pt>
    <dgm:pt modelId="{891385A4-AC3F-4446-849C-FA7E0FE18DA5}">
      <dgm:prSet/>
      <dgm:spPr/>
      <dgm:t>
        <a:bodyPr/>
        <a:lstStyle/>
        <a:p>
          <a:r>
            <a:rPr lang="pt-PT" dirty="0"/>
            <a:t>STLM</a:t>
          </a:r>
          <a:endParaRPr lang="en-US" dirty="0"/>
        </a:p>
      </dgm:t>
    </dgm:pt>
    <dgm:pt modelId="{6FF5B95B-8DAF-4392-9878-9E3392CDCA42}" type="parTrans" cxnId="{4643663C-9950-453F-A8FF-063AB473A1C8}">
      <dgm:prSet/>
      <dgm:spPr/>
      <dgm:t>
        <a:bodyPr/>
        <a:lstStyle/>
        <a:p>
          <a:endParaRPr lang="en-US"/>
        </a:p>
      </dgm:t>
    </dgm:pt>
    <dgm:pt modelId="{CFBDA844-6D56-4BDB-A4D6-BEB25DDC63C0}" type="sibTrans" cxnId="{4643663C-9950-453F-A8FF-063AB473A1C8}">
      <dgm:prSet/>
      <dgm:spPr/>
      <dgm:t>
        <a:bodyPr/>
        <a:lstStyle/>
        <a:p>
          <a:endParaRPr lang="en-US"/>
        </a:p>
      </dgm:t>
    </dgm:pt>
    <dgm:pt modelId="{680BE8FB-BCE2-8A4F-B534-160E7CF72241}" type="pres">
      <dgm:prSet presAssocID="{88F231F2-2ABE-4CD7-AE05-A9C81423AC68}" presName="vert0" presStyleCnt="0">
        <dgm:presLayoutVars>
          <dgm:dir/>
          <dgm:animOne val="branch"/>
          <dgm:animLvl val="lvl"/>
        </dgm:presLayoutVars>
      </dgm:prSet>
      <dgm:spPr/>
    </dgm:pt>
    <dgm:pt modelId="{F5E29576-2396-1744-939E-D8CA1380E40A}" type="pres">
      <dgm:prSet presAssocID="{97C2752F-04FB-4B57-8321-2B84D7E62A6D}" presName="thickLine" presStyleLbl="alignNode1" presStyleIdx="0" presStyleCnt="4"/>
      <dgm:spPr/>
    </dgm:pt>
    <dgm:pt modelId="{42DD3B58-10E4-9F4A-B651-88B9D6A3CA73}" type="pres">
      <dgm:prSet presAssocID="{97C2752F-04FB-4B57-8321-2B84D7E62A6D}" presName="horz1" presStyleCnt="0"/>
      <dgm:spPr/>
    </dgm:pt>
    <dgm:pt modelId="{9CD75D13-4BDE-B445-8511-C1CC1FBF7658}" type="pres">
      <dgm:prSet presAssocID="{97C2752F-04FB-4B57-8321-2B84D7E62A6D}" presName="tx1" presStyleLbl="revTx" presStyleIdx="0" presStyleCnt="4"/>
      <dgm:spPr/>
    </dgm:pt>
    <dgm:pt modelId="{D845C147-B40F-DF4D-AB8E-C453E8235264}" type="pres">
      <dgm:prSet presAssocID="{97C2752F-04FB-4B57-8321-2B84D7E62A6D}" presName="vert1" presStyleCnt="0"/>
      <dgm:spPr/>
    </dgm:pt>
    <dgm:pt modelId="{B2E2B74B-1ECB-FB4D-937C-58598D874FE9}" type="pres">
      <dgm:prSet presAssocID="{D37E16EA-CA4A-48EB-8082-652D7FBE274F}" presName="thickLine" presStyleLbl="alignNode1" presStyleIdx="1" presStyleCnt="4"/>
      <dgm:spPr/>
    </dgm:pt>
    <dgm:pt modelId="{27852608-B4A6-A34A-98D2-75AD88C566EA}" type="pres">
      <dgm:prSet presAssocID="{D37E16EA-CA4A-48EB-8082-652D7FBE274F}" presName="horz1" presStyleCnt="0"/>
      <dgm:spPr/>
    </dgm:pt>
    <dgm:pt modelId="{B304CD5E-EEFF-F145-955B-0D58C047C6AF}" type="pres">
      <dgm:prSet presAssocID="{D37E16EA-CA4A-48EB-8082-652D7FBE274F}" presName="tx1" presStyleLbl="revTx" presStyleIdx="1" presStyleCnt="4"/>
      <dgm:spPr/>
    </dgm:pt>
    <dgm:pt modelId="{48691203-BC45-E343-BDC4-7CA2083EDC4F}" type="pres">
      <dgm:prSet presAssocID="{D37E16EA-CA4A-48EB-8082-652D7FBE274F}" presName="vert1" presStyleCnt="0"/>
      <dgm:spPr/>
    </dgm:pt>
    <dgm:pt modelId="{C4892CE0-B01C-A041-94D4-477D9915753F}" type="pres">
      <dgm:prSet presAssocID="{4AB04389-48F6-44BB-A53A-B902FB958C4F}" presName="thickLine" presStyleLbl="alignNode1" presStyleIdx="2" presStyleCnt="4"/>
      <dgm:spPr/>
    </dgm:pt>
    <dgm:pt modelId="{1BE4B073-C8C2-A940-BBF9-D31013913830}" type="pres">
      <dgm:prSet presAssocID="{4AB04389-48F6-44BB-A53A-B902FB958C4F}" presName="horz1" presStyleCnt="0"/>
      <dgm:spPr/>
    </dgm:pt>
    <dgm:pt modelId="{0C3CA5AF-62F5-CF48-B7E1-9FAC0FDDE0BE}" type="pres">
      <dgm:prSet presAssocID="{4AB04389-48F6-44BB-A53A-B902FB958C4F}" presName="tx1" presStyleLbl="revTx" presStyleIdx="2" presStyleCnt="4"/>
      <dgm:spPr/>
    </dgm:pt>
    <dgm:pt modelId="{1D200D19-BD42-294B-AD41-0A56895C3643}" type="pres">
      <dgm:prSet presAssocID="{4AB04389-48F6-44BB-A53A-B902FB958C4F}" presName="vert1" presStyleCnt="0"/>
      <dgm:spPr/>
    </dgm:pt>
    <dgm:pt modelId="{D4FF2B0E-EF84-BC45-B84E-96B76297C68F}" type="pres">
      <dgm:prSet presAssocID="{891385A4-AC3F-4446-849C-FA7E0FE18DA5}" presName="thickLine" presStyleLbl="alignNode1" presStyleIdx="3" presStyleCnt="4"/>
      <dgm:spPr/>
    </dgm:pt>
    <dgm:pt modelId="{84130BD1-03B1-6445-814C-34F53B1480C6}" type="pres">
      <dgm:prSet presAssocID="{891385A4-AC3F-4446-849C-FA7E0FE18DA5}" presName="horz1" presStyleCnt="0"/>
      <dgm:spPr/>
    </dgm:pt>
    <dgm:pt modelId="{30D9E550-A42F-B54E-9A7B-FD748BBA26CA}" type="pres">
      <dgm:prSet presAssocID="{891385A4-AC3F-4446-849C-FA7E0FE18DA5}" presName="tx1" presStyleLbl="revTx" presStyleIdx="3" presStyleCnt="4"/>
      <dgm:spPr/>
    </dgm:pt>
    <dgm:pt modelId="{2A24034F-9875-D544-B036-247D1B11FCF7}" type="pres">
      <dgm:prSet presAssocID="{891385A4-AC3F-4446-849C-FA7E0FE18DA5}" presName="vert1" presStyleCnt="0"/>
      <dgm:spPr/>
    </dgm:pt>
  </dgm:ptLst>
  <dgm:cxnLst>
    <dgm:cxn modelId="{617DD90A-2987-40EC-9CBB-3E98DAFA358D}" srcId="{88F231F2-2ABE-4CD7-AE05-A9C81423AC68}" destId="{97C2752F-04FB-4B57-8321-2B84D7E62A6D}" srcOrd="0" destOrd="0" parTransId="{C0A62DE7-CF8E-4951-95A9-3EFDE8E41A95}" sibTransId="{D106129B-9C5D-4586-BC56-3566487926C5}"/>
    <dgm:cxn modelId="{B5B7B22C-F189-CB4D-B6F0-1467E8CBD20A}" type="presOf" srcId="{4AB04389-48F6-44BB-A53A-B902FB958C4F}" destId="{0C3CA5AF-62F5-CF48-B7E1-9FAC0FDDE0BE}" srcOrd="0" destOrd="0" presId="urn:microsoft.com/office/officeart/2008/layout/LinedList"/>
    <dgm:cxn modelId="{4643663C-9950-453F-A8FF-063AB473A1C8}" srcId="{88F231F2-2ABE-4CD7-AE05-A9C81423AC68}" destId="{891385A4-AC3F-4446-849C-FA7E0FE18DA5}" srcOrd="3" destOrd="0" parTransId="{6FF5B95B-8DAF-4392-9878-9E3392CDCA42}" sibTransId="{CFBDA844-6D56-4BDB-A4D6-BEB25DDC63C0}"/>
    <dgm:cxn modelId="{13C31A5B-D969-B14D-BB3A-2032E483712C}" type="presOf" srcId="{88F231F2-2ABE-4CD7-AE05-A9C81423AC68}" destId="{680BE8FB-BCE2-8A4F-B534-160E7CF72241}" srcOrd="0" destOrd="0" presId="urn:microsoft.com/office/officeart/2008/layout/LinedList"/>
    <dgm:cxn modelId="{94ACE27C-6D42-B740-A24C-EF1DFF888079}" type="presOf" srcId="{D37E16EA-CA4A-48EB-8082-652D7FBE274F}" destId="{B304CD5E-EEFF-F145-955B-0D58C047C6AF}" srcOrd="0" destOrd="0" presId="urn:microsoft.com/office/officeart/2008/layout/LinedList"/>
    <dgm:cxn modelId="{AA0D3D96-9C1C-0744-92A7-F11F3E9E4B09}" type="presOf" srcId="{97C2752F-04FB-4B57-8321-2B84D7E62A6D}" destId="{9CD75D13-4BDE-B445-8511-C1CC1FBF7658}" srcOrd="0" destOrd="0" presId="urn:microsoft.com/office/officeart/2008/layout/LinedList"/>
    <dgm:cxn modelId="{6C361EC1-6898-44C9-9AF3-03B7E25EC5A0}" srcId="{88F231F2-2ABE-4CD7-AE05-A9C81423AC68}" destId="{4AB04389-48F6-44BB-A53A-B902FB958C4F}" srcOrd="2" destOrd="0" parTransId="{7EB586CF-7F82-4DED-B770-B78F85971D88}" sibTransId="{F1B2DF70-4C51-4159-BAB4-D46C1097497B}"/>
    <dgm:cxn modelId="{2562FAE0-5F28-7549-9FA6-2370C3B9AEAB}" type="presOf" srcId="{891385A4-AC3F-4446-849C-FA7E0FE18DA5}" destId="{30D9E550-A42F-B54E-9A7B-FD748BBA26CA}" srcOrd="0" destOrd="0" presId="urn:microsoft.com/office/officeart/2008/layout/LinedList"/>
    <dgm:cxn modelId="{5F8456FE-0934-4912-81EE-4433B8F4B49E}" srcId="{88F231F2-2ABE-4CD7-AE05-A9C81423AC68}" destId="{D37E16EA-CA4A-48EB-8082-652D7FBE274F}" srcOrd="1" destOrd="0" parTransId="{E14A8C3D-4631-4EF8-A9CD-23CB22B5A93A}" sibTransId="{56459D47-AA0B-4A2C-B072-6F5C9B4EF07C}"/>
    <dgm:cxn modelId="{B649C425-928F-2740-A328-F32326975A54}" type="presParOf" srcId="{680BE8FB-BCE2-8A4F-B534-160E7CF72241}" destId="{F5E29576-2396-1744-939E-D8CA1380E40A}" srcOrd="0" destOrd="0" presId="urn:microsoft.com/office/officeart/2008/layout/LinedList"/>
    <dgm:cxn modelId="{FDB28A12-BD50-5748-BA3B-239D714A3186}" type="presParOf" srcId="{680BE8FB-BCE2-8A4F-B534-160E7CF72241}" destId="{42DD3B58-10E4-9F4A-B651-88B9D6A3CA73}" srcOrd="1" destOrd="0" presId="urn:microsoft.com/office/officeart/2008/layout/LinedList"/>
    <dgm:cxn modelId="{B64BC8B2-8FD8-CB47-8EA9-2CCEB693E9C8}" type="presParOf" srcId="{42DD3B58-10E4-9F4A-B651-88B9D6A3CA73}" destId="{9CD75D13-4BDE-B445-8511-C1CC1FBF7658}" srcOrd="0" destOrd="0" presId="urn:microsoft.com/office/officeart/2008/layout/LinedList"/>
    <dgm:cxn modelId="{921726C3-6BCD-1E40-B428-F2E434E99FB4}" type="presParOf" srcId="{42DD3B58-10E4-9F4A-B651-88B9D6A3CA73}" destId="{D845C147-B40F-DF4D-AB8E-C453E8235264}" srcOrd="1" destOrd="0" presId="urn:microsoft.com/office/officeart/2008/layout/LinedList"/>
    <dgm:cxn modelId="{D8166CB6-A4F6-7447-A5FC-6A27859B311D}" type="presParOf" srcId="{680BE8FB-BCE2-8A4F-B534-160E7CF72241}" destId="{B2E2B74B-1ECB-FB4D-937C-58598D874FE9}" srcOrd="2" destOrd="0" presId="urn:microsoft.com/office/officeart/2008/layout/LinedList"/>
    <dgm:cxn modelId="{52BA1265-2879-4646-9EE0-E6DA0AFA0E2A}" type="presParOf" srcId="{680BE8FB-BCE2-8A4F-B534-160E7CF72241}" destId="{27852608-B4A6-A34A-98D2-75AD88C566EA}" srcOrd="3" destOrd="0" presId="urn:microsoft.com/office/officeart/2008/layout/LinedList"/>
    <dgm:cxn modelId="{F78C2147-3A52-404A-AB56-2AA7382955D2}" type="presParOf" srcId="{27852608-B4A6-A34A-98D2-75AD88C566EA}" destId="{B304CD5E-EEFF-F145-955B-0D58C047C6AF}" srcOrd="0" destOrd="0" presId="urn:microsoft.com/office/officeart/2008/layout/LinedList"/>
    <dgm:cxn modelId="{0C4BD266-7F7D-FE4B-B3AD-DDFEC5675362}" type="presParOf" srcId="{27852608-B4A6-A34A-98D2-75AD88C566EA}" destId="{48691203-BC45-E343-BDC4-7CA2083EDC4F}" srcOrd="1" destOrd="0" presId="urn:microsoft.com/office/officeart/2008/layout/LinedList"/>
    <dgm:cxn modelId="{BAEB0C49-A2F8-9A42-AA3B-3B1CEB12AC22}" type="presParOf" srcId="{680BE8FB-BCE2-8A4F-B534-160E7CF72241}" destId="{C4892CE0-B01C-A041-94D4-477D9915753F}" srcOrd="4" destOrd="0" presId="urn:microsoft.com/office/officeart/2008/layout/LinedList"/>
    <dgm:cxn modelId="{0B1FC377-B3D1-084F-868D-2A7FF5351FB4}" type="presParOf" srcId="{680BE8FB-BCE2-8A4F-B534-160E7CF72241}" destId="{1BE4B073-C8C2-A940-BBF9-D31013913830}" srcOrd="5" destOrd="0" presId="urn:microsoft.com/office/officeart/2008/layout/LinedList"/>
    <dgm:cxn modelId="{D7E97DEB-3714-694F-A716-E9F2224C6042}" type="presParOf" srcId="{1BE4B073-C8C2-A940-BBF9-D31013913830}" destId="{0C3CA5AF-62F5-CF48-B7E1-9FAC0FDDE0BE}" srcOrd="0" destOrd="0" presId="urn:microsoft.com/office/officeart/2008/layout/LinedList"/>
    <dgm:cxn modelId="{C83E73DE-0F90-4B4C-B7AF-7A46A4305158}" type="presParOf" srcId="{1BE4B073-C8C2-A940-BBF9-D31013913830}" destId="{1D200D19-BD42-294B-AD41-0A56895C3643}" srcOrd="1" destOrd="0" presId="urn:microsoft.com/office/officeart/2008/layout/LinedList"/>
    <dgm:cxn modelId="{8616ABD1-24FE-F143-9AA6-DF87AF141884}" type="presParOf" srcId="{680BE8FB-BCE2-8A4F-B534-160E7CF72241}" destId="{D4FF2B0E-EF84-BC45-B84E-96B76297C68F}" srcOrd="6" destOrd="0" presId="urn:microsoft.com/office/officeart/2008/layout/LinedList"/>
    <dgm:cxn modelId="{EDBAA18B-45D4-534A-A91E-BDF2DE47196B}" type="presParOf" srcId="{680BE8FB-BCE2-8A4F-B534-160E7CF72241}" destId="{84130BD1-03B1-6445-814C-34F53B1480C6}" srcOrd="7" destOrd="0" presId="urn:microsoft.com/office/officeart/2008/layout/LinedList"/>
    <dgm:cxn modelId="{1B695E25-AC31-BE40-B6E8-0B5736826B65}" type="presParOf" srcId="{84130BD1-03B1-6445-814C-34F53B1480C6}" destId="{30D9E550-A42F-B54E-9A7B-FD748BBA26CA}" srcOrd="0" destOrd="0" presId="urn:microsoft.com/office/officeart/2008/layout/LinedList"/>
    <dgm:cxn modelId="{A7E2BBC3-3C13-5748-ABF3-48E7C80E6F48}" type="presParOf" srcId="{84130BD1-03B1-6445-814C-34F53B1480C6}" destId="{2A24034F-9875-D544-B036-247D1B11FCF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E29576-2396-1744-939E-D8CA1380E40A}">
      <dsp:nvSpPr>
        <dsp:cNvPr id="0" name=""/>
        <dsp:cNvSpPr/>
      </dsp:nvSpPr>
      <dsp:spPr>
        <a:xfrm>
          <a:off x="0" y="0"/>
          <a:ext cx="102615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D75D13-4BDE-B445-8511-C1CC1FBF7658}">
      <dsp:nvSpPr>
        <dsp:cNvPr id="0" name=""/>
        <dsp:cNvSpPr/>
      </dsp:nvSpPr>
      <dsp:spPr>
        <a:xfrm>
          <a:off x="0" y="0"/>
          <a:ext cx="10261599" cy="775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700" kern="1200" dirty="0"/>
            <a:t>SARIMA</a:t>
          </a:r>
          <a:endParaRPr lang="en-US" sz="3700" kern="1200" dirty="0"/>
        </a:p>
      </dsp:txBody>
      <dsp:txXfrm>
        <a:off x="0" y="0"/>
        <a:ext cx="10261599" cy="775493"/>
      </dsp:txXfrm>
    </dsp:sp>
    <dsp:sp modelId="{B2E2B74B-1ECB-FB4D-937C-58598D874FE9}">
      <dsp:nvSpPr>
        <dsp:cNvPr id="0" name=""/>
        <dsp:cNvSpPr/>
      </dsp:nvSpPr>
      <dsp:spPr>
        <a:xfrm>
          <a:off x="0" y="775493"/>
          <a:ext cx="102615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04CD5E-EEFF-F145-955B-0D58C047C6AF}">
      <dsp:nvSpPr>
        <dsp:cNvPr id="0" name=""/>
        <dsp:cNvSpPr/>
      </dsp:nvSpPr>
      <dsp:spPr>
        <a:xfrm>
          <a:off x="0" y="775493"/>
          <a:ext cx="10261599" cy="775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700" kern="1200" dirty="0"/>
            <a:t>GARCH</a:t>
          </a:r>
          <a:endParaRPr lang="en-US" sz="3700" kern="1200" dirty="0"/>
        </a:p>
      </dsp:txBody>
      <dsp:txXfrm>
        <a:off x="0" y="775493"/>
        <a:ext cx="10261599" cy="775493"/>
      </dsp:txXfrm>
    </dsp:sp>
    <dsp:sp modelId="{C4892CE0-B01C-A041-94D4-477D9915753F}">
      <dsp:nvSpPr>
        <dsp:cNvPr id="0" name=""/>
        <dsp:cNvSpPr/>
      </dsp:nvSpPr>
      <dsp:spPr>
        <a:xfrm>
          <a:off x="0" y="1550987"/>
          <a:ext cx="102615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CA5AF-62F5-CF48-B7E1-9FAC0FDDE0BE}">
      <dsp:nvSpPr>
        <dsp:cNvPr id="0" name=""/>
        <dsp:cNvSpPr/>
      </dsp:nvSpPr>
      <dsp:spPr>
        <a:xfrm>
          <a:off x="0" y="1550987"/>
          <a:ext cx="10261599" cy="775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700" kern="1200" dirty="0"/>
            <a:t>ETS</a:t>
          </a:r>
          <a:endParaRPr lang="en-US" sz="3700" kern="1200" dirty="0"/>
        </a:p>
      </dsp:txBody>
      <dsp:txXfrm>
        <a:off x="0" y="1550987"/>
        <a:ext cx="10261599" cy="775493"/>
      </dsp:txXfrm>
    </dsp:sp>
    <dsp:sp modelId="{D4FF2B0E-EF84-BC45-B84E-96B76297C68F}">
      <dsp:nvSpPr>
        <dsp:cNvPr id="0" name=""/>
        <dsp:cNvSpPr/>
      </dsp:nvSpPr>
      <dsp:spPr>
        <a:xfrm>
          <a:off x="0" y="2326481"/>
          <a:ext cx="102615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D9E550-A42F-B54E-9A7B-FD748BBA26CA}">
      <dsp:nvSpPr>
        <dsp:cNvPr id="0" name=""/>
        <dsp:cNvSpPr/>
      </dsp:nvSpPr>
      <dsp:spPr>
        <a:xfrm>
          <a:off x="0" y="2326481"/>
          <a:ext cx="10261599" cy="775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700" kern="1200" dirty="0"/>
            <a:t>STLM</a:t>
          </a:r>
          <a:endParaRPr lang="en-US" sz="3700" kern="1200" dirty="0"/>
        </a:p>
      </dsp:txBody>
      <dsp:txXfrm>
        <a:off x="0" y="2326481"/>
        <a:ext cx="10261599" cy="7754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EA34C-9AFF-2249-84E1-B124EBF18696}" type="datetimeFigureOut">
              <a:rPr lang="en-PT" smtClean="0"/>
              <a:t>10/06/2025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526933-0EE0-0045-9B90-D437E95F6CD2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012192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6933-0EE0-0045-9B90-D437E95F6CD2}" type="slidenum">
              <a:rPr lang="en-PT" smtClean="0"/>
              <a:t>4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58016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1789D-7397-0746-936F-FCB6CAF06201}" type="datetime1">
              <a:rPr lang="en-US" smtClean="0"/>
              <a:t>6/10/25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438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11E54-4010-5F41-84CF-866B4D0376CF}" type="datetime1">
              <a:rPr lang="en-US" smtClean="0"/>
              <a:t>6/10/25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864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6AE9-091D-ED42-A71D-D8734B448316}" type="datetime1">
              <a:rPr lang="en-US" smtClean="0"/>
              <a:t>6/10/25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804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5AE2-353B-DB4A-8156-9FBD00A5A056}" type="datetime1">
              <a:rPr lang="en-US" smtClean="0"/>
              <a:t>6/10/25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163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D93A5-F0AA-E141-BE1C-D49DBFA49EA8}" type="datetime1">
              <a:rPr lang="en-US" smtClean="0"/>
              <a:t>6/10/25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1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4D84E-9AFE-504A-8542-6872970C604D}" type="datetime1">
              <a:rPr lang="en-US" smtClean="0"/>
              <a:t>6/10/25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99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9C2D1-D34F-D146-B405-1241C291F4C3}" type="datetime1">
              <a:rPr lang="en-US" smtClean="0"/>
              <a:t>6/10/25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167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37B4C-699E-0047-A2F3-3BAF77E1D80C}" type="datetime1">
              <a:rPr lang="en-US" smtClean="0"/>
              <a:t>6/10/25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698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ADFC25F-17A7-FB4A-ACDE-8081FA614CF0}" type="datetime1">
              <a:rPr lang="en-US" smtClean="0"/>
              <a:t>6/10/25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38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1B379-C2BC-FC44-96DD-FCABC7F3A568}" type="datetime1">
              <a:rPr lang="en-US" smtClean="0"/>
              <a:t>6/10/25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489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F1242-A42E-D349-AEE9-A0D9932A8217}" type="datetime1">
              <a:rPr lang="en-US" smtClean="0"/>
              <a:t>6/10/25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57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91B09D2-E2B7-8A49-9CAD-1FE5553BC897}" type="datetime1">
              <a:rPr lang="en-US" smtClean="0"/>
              <a:t>6/10/25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399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E8DE-3DDA-4765-0741-24A5D8CF76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PT" noProof="0" dirty="0"/>
              <a:t>Modelação e Previsão do Consumo Mensal de Eletricidade em Espanha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3363CD-49EC-5C9C-B2D2-419361C805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noProof="0" dirty="0" err="1"/>
              <a:t>Apresentacao</a:t>
            </a:r>
            <a:r>
              <a:rPr lang="pt-PT" noProof="0" dirty="0"/>
              <a:t> com </a:t>
            </a:r>
            <a:r>
              <a:rPr lang="pt-PT" noProof="0" dirty="0" err="1"/>
              <a:t>max</a:t>
            </a:r>
            <a:r>
              <a:rPr lang="pt-PT" noProof="0" dirty="0"/>
              <a:t> de 10min</a:t>
            </a:r>
          </a:p>
          <a:p>
            <a:r>
              <a:rPr lang="pt-PT" noProof="0" dirty="0"/>
              <a:t>+ logo uni + autor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C16721A-A063-B0C5-06FC-A0BBA5E9B379}"/>
              </a:ext>
            </a:extLst>
          </p:cNvPr>
          <p:cNvSpPr/>
          <p:nvPr/>
        </p:nvSpPr>
        <p:spPr>
          <a:xfrm>
            <a:off x="-228600" y="-246185"/>
            <a:ext cx="1266092" cy="12108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9301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F2614-9103-D3BC-BC7A-17E7791C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Enquadramento / Motivação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A0A52-3A37-BC18-0717-681311D82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D3AFF-C7D1-93C0-AFDB-AC5A5014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pt-PT" noProof="0" smtClean="0"/>
              <a:pPr/>
              <a:t>2</a:t>
            </a:fld>
            <a:endParaRPr lang="pt-PT" noProof="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72934AD-8CF4-878B-DC37-D506C344781A}"/>
              </a:ext>
            </a:extLst>
          </p:cNvPr>
          <p:cNvSpPr/>
          <p:nvPr/>
        </p:nvSpPr>
        <p:spPr>
          <a:xfrm>
            <a:off x="-228600" y="-246185"/>
            <a:ext cx="1266092" cy="12108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77514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8D0CC-ADD0-7AA2-B89A-A1592D8CE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928" y="964692"/>
            <a:ext cx="6092952" cy="1188720"/>
          </a:xfrm>
        </p:spPr>
        <p:txBody>
          <a:bodyPr>
            <a:normAutofit/>
          </a:bodyPr>
          <a:lstStyle/>
          <a:p>
            <a:r>
              <a:rPr lang="pt-PT" noProof="0" dirty="0"/>
              <a:t>Análise Exploratória</a:t>
            </a:r>
          </a:p>
        </p:txBody>
      </p:sp>
      <p:pic>
        <p:nvPicPr>
          <p:cNvPr id="7" name="Picture 6" descr="A grid of white lines&#10;&#10;AI-generated content may be incorrect.">
            <a:extLst>
              <a:ext uri="{FF2B5EF4-FFF2-40B4-BE49-F238E27FC236}">
                <a16:creationId xmlns:a16="http://schemas.microsoft.com/office/drawing/2014/main" id="{20B6DD2C-B855-8E28-AE8D-5B5661A1F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883507"/>
            <a:ext cx="4007374" cy="2294221"/>
          </a:xfrm>
          <a:prstGeom prst="rect">
            <a:avLst/>
          </a:prstGeom>
          <a:ln w="31750" cap="sq">
            <a:noFill/>
            <a:miter lim="800000"/>
          </a:ln>
        </p:spPr>
      </p:pic>
      <p:pic>
        <p:nvPicPr>
          <p:cNvPr id="8" name="Content Placeholder 5" descr="A graph with blue and red lines&#10;&#10;AI-generated content may be incorrect.">
            <a:extLst>
              <a:ext uri="{FF2B5EF4-FFF2-40B4-BE49-F238E27FC236}">
                <a16:creationId xmlns:a16="http://schemas.microsoft.com/office/drawing/2014/main" id="{BFFD6F35-0B53-F3C3-483E-5C1327B93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99" y="3680273"/>
            <a:ext cx="4007373" cy="2294220"/>
          </a:xfrm>
          <a:prstGeom prst="rect">
            <a:avLst/>
          </a:prstGeom>
          <a:ln w="31750" cap="sq">
            <a:noFill/>
            <a:miter lim="800000"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3DBDC-37C7-EF80-01A4-FE42238D9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9646" y="2475146"/>
            <a:ext cx="6142233" cy="3687762"/>
          </a:xfrm>
        </p:spPr>
        <p:txBody>
          <a:bodyPr>
            <a:normAutofit/>
          </a:bodyPr>
          <a:lstStyle/>
          <a:p>
            <a:r>
              <a:rPr lang="pt-PT" noProof="0" dirty="0"/>
              <a:t>Consumo mensal de eletricidade (</a:t>
            </a:r>
            <a:r>
              <a:rPr lang="pt-PT" noProof="0" dirty="0" err="1"/>
              <a:t>GWh</a:t>
            </a:r>
            <a:r>
              <a:rPr lang="pt-PT" noProof="0" dirty="0"/>
              <a:t>) em Espanha</a:t>
            </a:r>
          </a:p>
          <a:p>
            <a:r>
              <a:rPr lang="pt-PT" noProof="0" dirty="0"/>
              <a:t>Janeiro de 2008 a fevereiro de 2025 (206 observações)</a:t>
            </a:r>
          </a:p>
          <a:p>
            <a:endParaRPr lang="pt-PT" sz="1200" noProof="0" dirty="0"/>
          </a:p>
          <a:p>
            <a:r>
              <a:rPr lang="pt-PT" dirty="0"/>
              <a:t>Sazonalidade? Sim</a:t>
            </a:r>
            <a:endParaRPr lang="pt-PT" noProof="0" dirty="0"/>
          </a:p>
          <a:p>
            <a:r>
              <a:rPr lang="pt-PT" noProof="0" dirty="0"/>
              <a:t>Tendência? Talvez</a:t>
            </a:r>
          </a:p>
          <a:p>
            <a:r>
              <a:rPr lang="pt-PT" dirty="0"/>
              <a:t>Variância constante? Talvez</a:t>
            </a:r>
            <a:endParaRPr lang="pt-PT" noProof="0" dirty="0"/>
          </a:p>
          <a:p>
            <a:r>
              <a:rPr lang="pt-PT" dirty="0" err="1"/>
              <a:t>Outliers</a:t>
            </a:r>
            <a:r>
              <a:rPr lang="pt-PT" dirty="0"/>
              <a:t>? 2020</a:t>
            </a:r>
          </a:p>
          <a:p>
            <a:endParaRPr lang="pt-PT" sz="1200" dirty="0"/>
          </a:p>
          <a:p>
            <a:r>
              <a:rPr lang="pt-PT" dirty="0"/>
              <a:t>Separação em teste e treino (80/20)</a:t>
            </a:r>
            <a:endParaRPr lang="pt-PT" noProof="0" dirty="0"/>
          </a:p>
          <a:p>
            <a:pPr marL="0" indent="0">
              <a:buNone/>
            </a:pPr>
            <a:endParaRPr lang="pt-PT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822E4-D610-308F-EAB5-826D2A3E6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A7A6979-0714-4377-B894-6BE4C2D6E202}" type="slidenum">
              <a:rPr lang="pt-PT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414757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24667-22DB-00AF-BDD5-5BE374D58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807" y="964692"/>
            <a:ext cx="5894832" cy="1188720"/>
          </a:xfrm>
        </p:spPr>
        <p:txBody>
          <a:bodyPr>
            <a:normAutofit/>
          </a:bodyPr>
          <a:lstStyle/>
          <a:p>
            <a:r>
              <a:rPr lang="pt-PT" noProof="0" dirty="0" err="1"/>
              <a:t>Estacionariedade</a:t>
            </a:r>
            <a:endParaRPr lang="pt-PT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EEA9CC-FD23-4544-9417-FE9080DFB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315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C4C7DC-5B5A-4159-A1CF-D56CF640C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907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pic>
        <p:nvPicPr>
          <p:cNvPr id="7" name="Content Placeholder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B70F510-7317-F57B-6BAD-0ED01A90F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094" y="1293275"/>
            <a:ext cx="3327225" cy="42793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2CB353-1660-F52A-DC62-D908B62BCC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80378" y="2310714"/>
                <a:ext cx="5963317" cy="3590536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pt-PT" noProof="0" dirty="0"/>
                  <a:t>Heterocedasticidade</a:t>
                </a:r>
              </a:p>
              <a:p>
                <a:pPr marL="0" indent="0" algn="ctr">
                  <a:buNone/>
                </a:pPr>
                <a:endParaRPr lang="pt-PT" sz="100" noProof="0" dirty="0"/>
              </a:p>
              <a:p>
                <a:r>
                  <a:rPr lang="pt-PT" noProof="0" dirty="0"/>
                  <a:t>Transformação Box-Cox</a:t>
                </a:r>
              </a:p>
              <a:p>
                <a:endParaRPr lang="pt-PT" sz="100" noProof="0" dirty="0"/>
              </a:p>
              <a:p>
                <a:r>
                  <a:rPr lang="pt-PT" noProof="0" dirty="0"/>
                  <a:t> </a:t>
                </a:r>
              </a:p>
              <a:p>
                <a:pPr lvl="1"/>
                <a:endParaRPr lang="pt-PT" noProof="0" dirty="0"/>
              </a:p>
              <a:p>
                <a:pPr lvl="1"/>
                <a:endParaRPr lang="pt-PT" noProof="0" dirty="0"/>
              </a:p>
              <a:p>
                <a:pPr marL="228600" lvl="1" indent="0">
                  <a:buNone/>
                </a:pPr>
                <a:r>
                  <a:rPr lang="pt-PT" noProof="0" dirty="0" err="1"/>
                  <a:t>Rej</a:t>
                </a:r>
                <a:r>
                  <a:rPr lang="pt-PT" noProof="0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PT" noProof="0" dirty="0"/>
                  <a:t>: Não há evidência de </a:t>
                </a:r>
                <a:r>
                  <a:rPr lang="pt-PT" noProof="0" dirty="0" err="1"/>
                  <a:t>heterocedasticidade</a:t>
                </a:r>
                <a:endParaRPr lang="pt-PT" noProof="0" dirty="0"/>
              </a:p>
              <a:p>
                <a:endParaRPr lang="pt-PT" sz="100" noProof="0" dirty="0"/>
              </a:p>
              <a:p>
                <a:r>
                  <a:rPr lang="pt-PT" noProof="0" dirty="0"/>
                  <a:t>Nenhuma transformação aplicada</a:t>
                </a:r>
              </a:p>
              <a:p>
                <a:endParaRPr lang="pt-PT" noProof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2CB353-1660-F52A-DC62-D908B62BCC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80378" y="2310714"/>
                <a:ext cx="5963317" cy="3590536"/>
              </a:xfrm>
              <a:blipFill>
                <a:blip r:embed="rId4"/>
                <a:stretch>
                  <a:fillRect l="-637" t="-352"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EAD16-73C2-CAFA-AA81-EB705E1CE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A7A6979-0714-4377-B894-6BE4C2D6E202}" type="slidenum">
              <a:rPr lang="pt-PT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pt-PT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0B3B68-F02F-41FF-ACD4-1B5742831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672" y="3412223"/>
            <a:ext cx="4891216" cy="115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806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F63A-F5EA-2A0F-94BD-2592F09B5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Estacionariedade</a:t>
            </a:r>
            <a:endParaRPr lang="en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5B3B3-6CCB-EB62-61FF-6AB6CB35A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53997"/>
            <a:ext cx="7729728" cy="416052"/>
          </a:xfrm>
        </p:spPr>
        <p:txBody>
          <a:bodyPr/>
          <a:lstStyle/>
          <a:p>
            <a:pPr marL="0" indent="0" algn="ctr">
              <a:buNone/>
            </a:pPr>
            <a:r>
              <a:rPr lang="en-PT" dirty="0"/>
              <a:t>Sazonalidade e Tendência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12D75-A849-9758-8CA4-339B98FC8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1228AC13-2C7F-BB09-35D9-C735EC165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87" y="2746014"/>
            <a:ext cx="3803085" cy="32597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F48991-2473-DB27-6908-A6D0C730B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151" y="2749181"/>
            <a:ext cx="3803086" cy="32597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A690F4-B281-824D-48C9-ED267B866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015" y="2752347"/>
            <a:ext cx="3795698" cy="325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310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C9E46-A336-6694-2238-48CF70CB8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Estacionariedade</a:t>
            </a:r>
            <a:endParaRPr lang="en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C0F97-4137-B4E0-63A1-4112CCF66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8648" y="5307589"/>
            <a:ext cx="9114703" cy="475595"/>
          </a:xfrm>
        </p:spPr>
        <p:txBody>
          <a:bodyPr/>
          <a:lstStyle/>
          <a:p>
            <a:pPr marL="0" indent="0" algn="ctr">
              <a:buNone/>
            </a:pPr>
            <a:r>
              <a:rPr lang="en-PT" dirty="0"/>
              <a:t>Ambos os testes confirmam a estacionariedade da série após a diferenciação de ordem 1 e 12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90670-01A5-BD88-0179-54651CAB8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7594BD20-08F3-4EA3-3072-665263E43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622" y="2645703"/>
            <a:ext cx="6009292" cy="2050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01FE1F-6DCF-12F2-EC61-8FA616BAFB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65"/>
          <a:stretch>
            <a:fillRect/>
          </a:stretch>
        </p:blipFill>
        <p:spPr>
          <a:xfrm>
            <a:off x="699086" y="2526339"/>
            <a:ext cx="4635076" cy="228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12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7981-DD65-B480-17CF-9BBAC6754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pt-PT" noProof="0">
                <a:solidFill>
                  <a:srgbClr val="262626"/>
                </a:solidFill>
              </a:rPr>
              <a:t>Propostas de Modelos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45113-9994-6960-68C9-5A5F27399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A7A6979-0714-4377-B894-6BE4C2D6E202}" type="slidenum">
              <a:rPr lang="pt-PT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pt-PT" noProof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46241CE-09F1-B675-01E9-E6C4749A6D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7413283"/>
              </p:ext>
            </p:extLst>
          </p:nvPr>
        </p:nvGraphicFramePr>
        <p:xfrm>
          <a:off x="965201" y="2638425"/>
          <a:ext cx="10261600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339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AFC29-B0E3-0930-5589-044846679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4476806" cy="1188720"/>
          </a:xfrm>
        </p:spPr>
        <p:txBody>
          <a:bodyPr>
            <a:normAutofit/>
          </a:bodyPr>
          <a:lstStyle/>
          <a:p>
            <a:r>
              <a:rPr lang="en-PT"/>
              <a:t>SARIMA</a:t>
            </a:r>
            <a:endParaRPr lang="en-P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E1C6318B-BD13-74F7-D119-1FBFDBC76F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4672" y="2638044"/>
                <a:ext cx="5106493" cy="326320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dirty="0"/>
                  <a:t>3 modelos, tendo em conta:</a:t>
                </a:r>
              </a:p>
              <a:p>
                <a:r>
                  <a:rPr lang="pt-PT" dirty="0"/>
                  <a:t>Análise ACF e PACF</a:t>
                </a:r>
              </a:p>
              <a:p>
                <a:pPr lvl="1"/>
                <a:r>
                  <a:rPr lang="pt-PT" dirty="0"/>
                  <a:t>SARIMA(1,1,1)(1,1,1)[12]</a:t>
                </a:r>
              </a:p>
              <a:p>
                <a:r>
                  <a:rPr lang="pt-PT" dirty="0"/>
                  <a:t>Análise sistemática, critério </a:t>
                </a:r>
                <a:r>
                  <a:rPr lang="pt-PT" dirty="0" err="1"/>
                  <a:t>AICc</a:t>
                </a:r>
                <a:endParaRPr lang="pt-PT" dirty="0"/>
              </a:p>
              <a:p>
                <a:pPr lvl="1"/>
                <a:r>
                  <a:rPr lang="pt-PT" dirty="0"/>
                  <a:t>SARIMA(2,0,2)(2,1,0)[12]</a:t>
                </a:r>
              </a:p>
              <a:p>
                <a:r>
                  <a:rPr lang="pt-PT" dirty="0"/>
                  <a:t>Análise sistemática, critério </a:t>
                </a:r>
                <a:r>
                  <a:rPr lang="pt-PT" dirty="0" err="1"/>
                  <a:t>AICc</a:t>
                </a:r>
                <a:r>
                  <a:rPr lang="pt-PT" dirty="0"/>
                  <a:t>, com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pt-PT" dirty="0"/>
              </a:p>
              <a:p>
                <a:pPr lvl="1"/>
                <a:r>
                  <a:rPr lang="pt-PT" dirty="0"/>
                  <a:t>SARIMA(0,1,2)(3,1,0)[12]</a:t>
                </a:r>
              </a:p>
            </p:txBody>
          </p:sp>
        </mc:Choice>
        <mc:Fallback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E1C6318B-BD13-74F7-D119-1FBFDBC76F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4672" y="2638044"/>
                <a:ext cx="5106493" cy="3263206"/>
              </a:xfrm>
              <a:blipFill>
                <a:blip r:embed="rId2"/>
                <a:stretch>
                  <a:fillRect l="-993" t="-775"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CCB44D6C-A194-4C92-A608-1AA2CC599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3605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5762A7-CE84-40FE-9B97-D3C158A3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699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5" descr="A black background with blue lines&#10;&#10;AI-generated content may be incorrect.">
            <a:extLst>
              <a:ext uri="{FF2B5EF4-FFF2-40B4-BE49-F238E27FC236}">
                <a16:creationId xmlns:a16="http://schemas.microsoft.com/office/drawing/2014/main" id="{A5AC8984-9794-ADBC-8E6F-3318E37D5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9" y="1382555"/>
            <a:ext cx="4782312" cy="41008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7A1E7-05E5-4465-5609-73AF75596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A7A6979-0714-4377-B894-6BE4C2D6E202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20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05735-2BE1-48A4-C705-826ADDAA3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677" y="964692"/>
            <a:ext cx="3066937" cy="1188720"/>
          </a:xfrm>
        </p:spPr>
        <p:txBody>
          <a:bodyPr>
            <a:normAutofit/>
          </a:bodyPr>
          <a:lstStyle/>
          <a:p>
            <a:r>
              <a:rPr lang="pt-PT" noProof="0" dirty="0" err="1"/>
              <a:t>Sarima</a:t>
            </a:r>
            <a:endParaRPr lang="pt-PT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58FD32-AA91-47A4-9758-8C172B306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795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B5B18B-0170-4F1B-BF40-89BD5772C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8415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olorful lines on a black background&#10;&#10;AI-generated content may be incorrect.">
            <a:extLst>
              <a:ext uri="{FF2B5EF4-FFF2-40B4-BE49-F238E27FC236}">
                <a16:creationId xmlns:a16="http://schemas.microsoft.com/office/drawing/2014/main" id="{846E8B81-F480-C66E-A012-F7CF423B6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28" y="1293275"/>
            <a:ext cx="5985165" cy="4279392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E89611-D7A2-21B7-9A84-681EDCC1D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2008" y="2638044"/>
            <a:ext cx="3388274" cy="3263206"/>
          </a:xfrm>
        </p:spPr>
        <p:txBody>
          <a:bodyPr>
            <a:normAutofit/>
          </a:bodyPr>
          <a:lstStyle/>
          <a:p>
            <a:r>
              <a:rPr lang="pt-PT" noProof="0" dirty="0"/>
              <a:t>Apesar dos modelos parecerem ajustar-se bem aos dados de treino, todos os testes de </a:t>
            </a:r>
            <a:r>
              <a:rPr lang="pt-PT" noProof="0" dirty="0" err="1"/>
              <a:t>Ljung</a:t>
            </a:r>
            <a:r>
              <a:rPr lang="pt-PT" noProof="0" dirty="0"/>
              <a:t>-Box revelaram </a:t>
            </a:r>
            <a:r>
              <a:rPr lang="pt-PT" noProof="0" dirty="0" err="1"/>
              <a:t>autocorrelação</a:t>
            </a:r>
            <a:r>
              <a:rPr lang="pt-PT" noProof="0" dirty="0"/>
              <a:t> significativa nos resíduos.</a:t>
            </a:r>
          </a:p>
          <a:p>
            <a:r>
              <a:rPr lang="pt-PT" dirty="0"/>
              <a:t>Outras variantes foram testadas, mas apresentaram desempenhos ainda inferiores.</a:t>
            </a:r>
            <a:endParaRPr lang="pt-PT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1EAF6-7345-2971-7D85-A8C9BEB5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A7A6979-0714-4377-B894-6BE4C2D6E202}" type="slidenum">
              <a:rPr lang="pt-PT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3223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A8918-8742-9E17-16CC-3E99CD7D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SARIMA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11E83-389E-18DF-48A5-4151AEA0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ED199F3A-BBD4-D29F-1F04-9DE2C0F15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66" y="3393782"/>
            <a:ext cx="3618970" cy="3101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C4103A-CC6B-14CF-CB20-5113ADA8C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66" y="2318820"/>
            <a:ext cx="3618970" cy="1034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B40556-6A46-0C29-DC8C-8B5A543CF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53412"/>
            <a:ext cx="3997339" cy="22841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DADE53-90EA-3BD7-78CB-DEE33EDF62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676" y="4478047"/>
            <a:ext cx="7772400" cy="1798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181D6B-7118-CD46-C687-EE4992F35A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9819" y="2836080"/>
            <a:ext cx="7772400" cy="2105786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1FC75956-A843-0E6B-6E63-E4F64B215AFE}"/>
              </a:ext>
            </a:extLst>
          </p:cNvPr>
          <p:cNvSpPr/>
          <p:nvPr/>
        </p:nvSpPr>
        <p:spPr>
          <a:xfrm>
            <a:off x="-228600" y="-246185"/>
            <a:ext cx="1266092" cy="12108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57198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B9394-E25A-434B-1ED4-8B1E5300B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 err="1"/>
              <a:t>garch</a:t>
            </a:r>
            <a:endParaRPr lang="pt-PT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EC6C3-D577-5969-AB40-78BE17054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noProof="0" dirty="0"/>
              <a:t>Meter print do teste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D62B4-F2AE-EDF1-963C-9A95B9BC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pt-PT" noProof="0" smtClean="0"/>
              <a:pPr/>
              <a:t>11</a:t>
            </a:fld>
            <a:endParaRPr lang="pt-PT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A97238-B52D-F7D5-162D-4F22F6D9C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438897"/>
            <a:ext cx="7772400" cy="150027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5D1C94D-580D-E09E-3694-2C9CB9EEECE8}"/>
              </a:ext>
            </a:extLst>
          </p:cNvPr>
          <p:cNvSpPr/>
          <p:nvPr/>
        </p:nvSpPr>
        <p:spPr>
          <a:xfrm>
            <a:off x="-228600" y="-246185"/>
            <a:ext cx="1266092" cy="12108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905151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21054-B791-0E8D-F4A2-9449DA0A1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35646-F64C-C63B-6E0A-CEB796D0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noProof="0" dirty="0"/>
              <a:t>Modelo ajustado tendo em conta o critério </a:t>
            </a:r>
            <a:r>
              <a:rPr lang="pt-PT" noProof="0" dirty="0" err="1"/>
              <a:t>AICc</a:t>
            </a:r>
            <a:r>
              <a:rPr lang="pt-PT" noProof="0" dirty="0"/>
              <a:t>: ETS(M,N,A)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61F28-46B0-7A0C-1133-C20531347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pt-PT" noProof="0" smtClean="0"/>
              <a:pPr/>
              <a:t>12</a:t>
            </a:fld>
            <a:endParaRPr lang="pt-PT" noProof="0" dirty="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DCFDF486-7111-BCD9-A357-49C1B9BAF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877" y="3429000"/>
            <a:ext cx="3618970" cy="310197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0AD1D4-D8B9-A2F7-ED5F-98CE1C320566}"/>
              </a:ext>
            </a:extLst>
          </p:cNvPr>
          <p:cNvSpPr txBox="1">
            <a:spLocks/>
          </p:cNvSpPr>
          <p:nvPr/>
        </p:nvSpPr>
        <p:spPr>
          <a:xfrm>
            <a:off x="6096000" y="4168112"/>
            <a:ext cx="3864864" cy="536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 dirty="0"/>
              <a:t>Adicionar </a:t>
            </a:r>
            <a:r>
              <a:rPr lang="pt-PT" noProof="0" dirty="0" err="1"/>
              <a:t>ljunbox</a:t>
            </a:r>
            <a:r>
              <a:rPr lang="pt-PT" noProof="0" dirty="0"/>
              <a:t> </a:t>
            </a:r>
            <a:r>
              <a:rPr lang="pt-PT" noProof="0" dirty="0" err="1"/>
              <a:t>test</a:t>
            </a:r>
            <a:endParaRPr lang="pt-PT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5EA6CE5-E3E9-5264-51E1-072D871BF09C}"/>
              </a:ext>
            </a:extLst>
          </p:cNvPr>
          <p:cNvSpPr/>
          <p:nvPr/>
        </p:nvSpPr>
        <p:spPr>
          <a:xfrm>
            <a:off x="-228600" y="-246185"/>
            <a:ext cx="1266092" cy="12108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478907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328C5-0AD1-A216-3125-4D013EC7F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STLM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4EE7D-C711-8EE4-3BC4-CFDCE6EC3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noProof="0" dirty="0"/>
              <a:t>STLM(ARIMA)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1092B-BAE7-48F7-5141-2E786354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pt-PT" noProof="0" smtClean="0"/>
              <a:pPr/>
              <a:t>13</a:t>
            </a:fld>
            <a:endParaRPr lang="pt-PT" noProof="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C26678B-8094-052D-BF72-56A9DA17E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376" y="2370333"/>
            <a:ext cx="4702210" cy="403046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78DEBDC-47A0-34AA-8854-7BFA487B4C9D}"/>
              </a:ext>
            </a:extLst>
          </p:cNvPr>
          <p:cNvSpPr/>
          <p:nvPr/>
        </p:nvSpPr>
        <p:spPr>
          <a:xfrm>
            <a:off x="-228600" y="-246185"/>
            <a:ext cx="1266092" cy="12108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83356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17125-800D-3264-4C3A-5142C4E62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STLM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16C7A-E699-F41F-DF5A-88F364DCF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6088513"/>
            <a:ext cx="7729728" cy="495167"/>
          </a:xfrm>
        </p:spPr>
        <p:txBody>
          <a:bodyPr/>
          <a:lstStyle/>
          <a:p>
            <a:r>
              <a:rPr lang="pt-PT" noProof="0" dirty="0"/>
              <a:t>Meter </a:t>
            </a:r>
            <a:r>
              <a:rPr lang="pt-PT" noProof="0" dirty="0" err="1"/>
              <a:t>ljobx</a:t>
            </a:r>
            <a:r>
              <a:rPr lang="pt-PT" noProof="0" dirty="0"/>
              <a:t> </a:t>
            </a:r>
            <a:r>
              <a:rPr lang="pt-PT" noProof="0" dirty="0" err="1"/>
              <a:t>test</a:t>
            </a:r>
            <a:r>
              <a:rPr lang="pt-PT" noProof="0" dirty="0"/>
              <a:t> + normalidades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4A3A0-5E1F-EECF-102F-B1943952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pt-PT" noProof="0" smtClean="0"/>
              <a:pPr/>
              <a:t>14</a:t>
            </a:fld>
            <a:endParaRPr lang="pt-PT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52768D-8FB6-00E3-9468-CA7FF8583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0" y="2279322"/>
            <a:ext cx="4297161" cy="36832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B2FF41-7B5C-D89A-02B0-F2382BB95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917" y="2603769"/>
            <a:ext cx="5756694" cy="328953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162F5C6-2650-80AD-A5D3-7A2FAEDCE29D}"/>
              </a:ext>
            </a:extLst>
          </p:cNvPr>
          <p:cNvSpPr/>
          <p:nvPr/>
        </p:nvSpPr>
        <p:spPr>
          <a:xfrm>
            <a:off x="-228600" y="-246185"/>
            <a:ext cx="1266092" cy="12108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86829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CD509-BAC2-1BDA-8B70-939AC903B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Previsão de Observações Futuras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50880-08FF-87F1-4D42-777CE189B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noProof="0" dirty="0"/>
              <a:t>ARIMA(1,1,1)(1,1,1)[12]</a:t>
            </a:r>
          </a:p>
          <a:p>
            <a:r>
              <a:rPr lang="pt-PT" noProof="0" dirty="0"/>
              <a:t>STLM(ARIMA)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06C95-933F-B087-1FEF-8C0396EA0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pt-PT" noProof="0" smtClean="0"/>
              <a:pPr/>
              <a:t>15</a:t>
            </a:fld>
            <a:endParaRPr lang="pt-PT" noProof="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EC3FF39-0FD0-CBFF-E81D-94462C942BA3}"/>
              </a:ext>
            </a:extLst>
          </p:cNvPr>
          <p:cNvSpPr/>
          <p:nvPr/>
        </p:nvSpPr>
        <p:spPr>
          <a:xfrm>
            <a:off x="-228600" y="-246185"/>
            <a:ext cx="1266092" cy="12108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190830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1E3D8-72F6-E132-CC76-E4FD31D5C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Previsão de Observações Futuras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EFA2D-0BB0-7288-0A6D-C3AE8DE2A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pt-PT" noProof="0" smtClean="0"/>
              <a:pPr/>
              <a:t>16</a:t>
            </a:fld>
            <a:endParaRPr lang="pt-PT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E233F7-DC0C-2B15-93FB-C5FD2C605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997" y="1849557"/>
            <a:ext cx="4425351" cy="25287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211940-919A-0A4D-CFC2-B14B107DC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154" y="4074474"/>
            <a:ext cx="4871170" cy="2783526"/>
          </a:xfrm>
          <a:prstGeom prst="rect">
            <a:avLst/>
          </a:prstGeom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06F45EE2-1F77-AEF7-C186-B7EA3D0DC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515050" y="1709715"/>
            <a:ext cx="4606288" cy="2632165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3A110B-6E25-D030-D35D-08E24B1AF4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6234" y="4074474"/>
            <a:ext cx="4407185" cy="251839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DCCDBD3-5102-2700-622D-A4382960D999}"/>
              </a:ext>
            </a:extLst>
          </p:cNvPr>
          <p:cNvSpPr/>
          <p:nvPr/>
        </p:nvSpPr>
        <p:spPr>
          <a:xfrm>
            <a:off x="-228600" y="-246185"/>
            <a:ext cx="1266092" cy="12108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952282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7FED4-5FFE-8D45-DE73-CE55FB9AC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Previsão de Observações Futuras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385F4-9AE1-B467-6684-F3D2776C5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noProof="0" dirty="0"/>
              <a:t>Meter métricas de teste e treino para cada um deles (tabela)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E87AD-9993-FAAF-D079-5E9AA0CCB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pt-PT" noProof="0" smtClean="0"/>
              <a:pPr/>
              <a:t>17</a:t>
            </a:fld>
            <a:endParaRPr lang="pt-PT" noProof="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17CE644-1354-7523-7E79-A85B575FBDB0}"/>
              </a:ext>
            </a:extLst>
          </p:cNvPr>
          <p:cNvSpPr/>
          <p:nvPr/>
        </p:nvSpPr>
        <p:spPr>
          <a:xfrm>
            <a:off x="-228600" y="-246185"/>
            <a:ext cx="1266092" cy="12108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38283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27C9A-F383-59C2-179C-D2F24630A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Previsão de Observações Futuras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71BBE-7F5D-87F1-A17B-B3577935C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117" y="2638043"/>
            <a:ext cx="4721755" cy="3101983"/>
          </a:xfrm>
        </p:spPr>
        <p:txBody>
          <a:bodyPr/>
          <a:lstStyle/>
          <a:p>
            <a:pPr marL="0" indent="0">
              <a:buNone/>
            </a:pPr>
            <a:r>
              <a:rPr lang="pt-PT" noProof="0" dirty="0"/>
              <a:t>Intervalos de previsão</a:t>
            </a:r>
          </a:p>
          <a:p>
            <a:r>
              <a:rPr lang="pt-PT" noProof="0" dirty="0"/>
              <a:t>Ambos os modelos com cobertura total</a:t>
            </a:r>
          </a:p>
          <a:p>
            <a:r>
              <a:rPr lang="pt-PT" noProof="0" dirty="0"/>
              <a:t>Amplitude média:</a:t>
            </a:r>
          </a:p>
          <a:p>
            <a:pPr lvl="1"/>
            <a:r>
              <a:rPr lang="pt-PT" noProof="0" dirty="0"/>
              <a:t>SARIMA: 4378</a:t>
            </a:r>
          </a:p>
          <a:p>
            <a:pPr lvl="1"/>
            <a:r>
              <a:rPr lang="pt-PT" noProof="0" dirty="0"/>
              <a:t>STLM: 3639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5527F-1452-64F9-1CDC-D1D11A0C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pt-PT" noProof="0" smtClean="0"/>
              <a:pPr/>
              <a:t>18</a:t>
            </a:fld>
            <a:endParaRPr lang="pt-PT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96E7C-4393-9311-C20A-78416316F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690" y="2360235"/>
            <a:ext cx="6400800" cy="36576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54C19C-E83D-7116-9B3D-FE33F30AF6B5}"/>
              </a:ext>
            </a:extLst>
          </p:cNvPr>
          <p:cNvSpPr/>
          <p:nvPr/>
        </p:nvSpPr>
        <p:spPr>
          <a:xfrm>
            <a:off x="-228600" y="-246185"/>
            <a:ext cx="1266092" cy="12108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43093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11C9A-6F0B-0F67-0243-23BBC7864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discussão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1B964-4462-9626-3781-F8C674D1D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noProof="0" dirty="0"/>
              <a:t>Escolha do melhor modelo + justificação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74295-FD44-721B-3566-259C5C84E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pt-PT" noProof="0" smtClean="0"/>
              <a:pPr/>
              <a:t>19</a:t>
            </a:fld>
            <a:endParaRPr lang="pt-PT" noProof="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601FB0-88B4-0596-5B3A-F62250AF6A5D}"/>
              </a:ext>
            </a:extLst>
          </p:cNvPr>
          <p:cNvSpPr/>
          <p:nvPr/>
        </p:nvSpPr>
        <p:spPr>
          <a:xfrm>
            <a:off x="-228600" y="-246185"/>
            <a:ext cx="1266092" cy="12108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08408701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210</TotalTime>
  <Words>321</Words>
  <Application>Microsoft Macintosh PowerPoint</Application>
  <PresentationFormat>Widescreen</PresentationFormat>
  <Paragraphs>88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Cambria Math</vt:lpstr>
      <vt:lpstr>Gill Sans MT</vt:lpstr>
      <vt:lpstr>Parcel</vt:lpstr>
      <vt:lpstr>Modelação e Previsão do Consumo Mensal de Eletricidade em Espanha</vt:lpstr>
      <vt:lpstr>Enquadramento / Motivação</vt:lpstr>
      <vt:lpstr>Análise Exploratória</vt:lpstr>
      <vt:lpstr>Estacionariedade</vt:lpstr>
      <vt:lpstr>Estacionariedade</vt:lpstr>
      <vt:lpstr>Estacionariedade</vt:lpstr>
      <vt:lpstr>Propostas de Modelos</vt:lpstr>
      <vt:lpstr>SARIMA</vt:lpstr>
      <vt:lpstr>Sarima</vt:lpstr>
      <vt:lpstr>SARIMA</vt:lpstr>
      <vt:lpstr>garch</vt:lpstr>
      <vt:lpstr>ETS</vt:lpstr>
      <vt:lpstr>STLM</vt:lpstr>
      <vt:lpstr>STLM</vt:lpstr>
      <vt:lpstr>Previsão de Observações Futuras</vt:lpstr>
      <vt:lpstr>Previsão de Observações Futuras</vt:lpstr>
      <vt:lpstr>Previsão de Observações Futuras</vt:lpstr>
      <vt:lpstr>Previsão de Observações Futuras</vt:lpstr>
      <vt:lpstr>discussão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C. Veríssimo</dc:creator>
  <cp:lastModifiedBy>Hugo C. Veríssimo</cp:lastModifiedBy>
  <cp:revision>66</cp:revision>
  <dcterms:created xsi:type="dcterms:W3CDTF">2025-06-05T16:34:41Z</dcterms:created>
  <dcterms:modified xsi:type="dcterms:W3CDTF">2025-06-10T16:44:14Z</dcterms:modified>
</cp:coreProperties>
</file>