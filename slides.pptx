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708" r:id="rId1"/>
  </p:sldMasterIdLst>
  <p:notesMasterIdLst>
    <p:notesMasterId r:id="rId23"/>
  </p:notesMasterIdLst>
  <p:sldIdLst>
    <p:sldId id="299" r:id="rId2"/>
    <p:sldId id="302" r:id="rId3"/>
    <p:sldId id="269" r:id="rId4"/>
    <p:sldId id="284" r:id="rId5"/>
    <p:sldId id="285" r:id="rId6"/>
    <p:sldId id="286" r:id="rId7"/>
    <p:sldId id="261" r:id="rId8"/>
    <p:sldId id="287" r:id="rId9"/>
    <p:sldId id="273" r:id="rId10"/>
    <p:sldId id="295" r:id="rId11"/>
    <p:sldId id="296" r:id="rId12"/>
    <p:sldId id="301" r:id="rId13"/>
    <p:sldId id="264" r:id="rId14"/>
    <p:sldId id="289" r:id="rId15"/>
    <p:sldId id="291" r:id="rId16"/>
    <p:sldId id="292" r:id="rId17"/>
    <p:sldId id="293" r:id="rId18"/>
    <p:sldId id="281" r:id="rId19"/>
    <p:sldId id="282" r:id="rId20"/>
    <p:sldId id="283" r:id="rId21"/>
    <p:sldId id="297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298"/>
    <p:restoredTop sz="94223"/>
  </p:normalViewPr>
  <p:slideViewPr>
    <p:cSldViewPr snapToGrid="0">
      <p:cViewPr>
        <p:scale>
          <a:sx n="80" d="100"/>
          <a:sy n="80" d="100"/>
        </p:scale>
        <p:origin x="1416" y="928"/>
      </p:cViewPr>
      <p:guideLst/>
    </p:cSldViewPr>
  </p:slideViewPr>
  <p:notesTextViewPr>
    <p:cViewPr>
      <p:scale>
        <a:sx n="20" d="100"/>
        <a:sy n="2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8F231F2-2ABE-4CD7-AE05-A9C81423AC68}" type="doc">
      <dgm:prSet loTypeId="urn:microsoft.com/office/officeart/2008/layout/LinedList" loCatId="list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97C2752F-04FB-4B57-8321-2B84D7E62A6D}">
      <dgm:prSet/>
      <dgm:spPr/>
      <dgm:t>
        <a:bodyPr/>
        <a:lstStyle/>
        <a:p>
          <a:r>
            <a:rPr lang="pt-PT" dirty="0"/>
            <a:t>SARIMA</a:t>
          </a:r>
          <a:endParaRPr lang="en-US" dirty="0"/>
        </a:p>
      </dgm:t>
    </dgm:pt>
    <dgm:pt modelId="{C0A62DE7-CF8E-4951-95A9-3EFDE8E41A95}" type="parTrans" cxnId="{617DD90A-2987-40EC-9CBB-3E98DAFA358D}">
      <dgm:prSet/>
      <dgm:spPr/>
      <dgm:t>
        <a:bodyPr/>
        <a:lstStyle/>
        <a:p>
          <a:endParaRPr lang="en-US"/>
        </a:p>
      </dgm:t>
    </dgm:pt>
    <dgm:pt modelId="{D106129B-9C5D-4586-BC56-3566487926C5}" type="sibTrans" cxnId="{617DD90A-2987-40EC-9CBB-3E98DAFA358D}">
      <dgm:prSet/>
      <dgm:spPr/>
      <dgm:t>
        <a:bodyPr/>
        <a:lstStyle/>
        <a:p>
          <a:endParaRPr lang="en-US"/>
        </a:p>
      </dgm:t>
    </dgm:pt>
    <dgm:pt modelId="{D37E16EA-CA4A-48EB-8082-652D7FBE274F}">
      <dgm:prSet/>
      <dgm:spPr/>
      <dgm:t>
        <a:bodyPr/>
        <a:lstStyle/>
        <a:p>
          <a:r>
            <a:rPr lang="pt-PT" dirty="0"/>
            <a:t>GARCH</a:t>
          </a:r>
          <a:endParaRPr lang="en-US" dirty="0"/>
        </a:p>
      </dgm:t>
    </dgm:pt>
    <dgm:pt modelId="{E14A8C3D-4631-4EF8-A9CD-23CB22B5A93A}" type="parTrans" cxnId="{5F8456FE-0934-4912-81EE-4433B8F4B49E}">
      <dgm:prSet/>
      <dgm:spPr/>
      <dgm:t>
        <a:bodyPr/>
        <a:lstStyle/>
        <a:p>
          <a:endParaRPr lang="en-US"/>
        </a:p>
      </dgm:t>
    </dgm:pt>
    <dgm:pt modelId="{56459D47-AA0B-4A2C-B072-6F5C9B4EF07C}" type="sibTrans" cxnId="{5F8456FE-0934-4912-81EE-4433B8F4B49E}">
      <dgm:prSet/>
      <dgm:spPr/>
      <dgm:t>
        <a:bodyPr/>
        <a:lstStyle/>
        <a:p>
          <a:endParaRPr lang="en-US"/>
        </a:p>
      </dgm:t>
    </dgm:pt>
    <dgm:pt modelId="{4AB04389-48F6-44BB-A53A-B902FB958C4F}">
      <dgm:prSet/>
      <dgm:spPr/>
      <dgm:t>
        <a:bodyPr/>
        <a:lstStyle/>
        <a:p>
          <a:r>
            <a:rPr lang="pt-PT" dirty="0"/>
            <a:t>ETS</a:t>
          </a:r>
          <a:endParaRPr lang="en-US" dirty="0"/>
        </a:p>
      </dgm:t>
    </dgm:pt>
    <dgm:pt modelId="{7EB586CF-7F82-4DED-B770-B78F85971D88}" type="parTrans" cxnId="{6C361EC1-6898-44C9-9AF3-03B7E25EC5A0}">
      <dgm:prSet/>
      <dgm:spPr/>
      <dgm:t>
        <a:bodyPr/>
        <a:lstStyle/>
        <a:p>
          <a:endParaRPr lang="en-US"/>
        </a:p>
      </dgm:t>
    </dgm:pt>
    <dgm:pt modelId="{F1B2DF70-4C51-4159-BAB4-D46C1097497B}" type="sibTrans" cxnId="{6C361EC1-6898-44C9-9AF3-03B7E25EC5A0}">
      <dgm:prSet/>
      <dgm:spPr/>
      <dgm:t>
        <a:bodyPr/>
        <a:lstStyle/>
        <a:p>
          <a:endParaRPr lang="en-US"/>
        </a:p>
      </dgm:t>
    </dgm:pt>
    <dgm:pt modelId="{891385A4-AC3F-4446-849C-FA7E0FE18DA5}">
      <dgm:prSet/>
      <dgm:spPr/>
      <dgm:t>
        <a:bodyPr/>
        <a:lstStyle/>
        <a:p>
          <a:r>
            <a:rPr lang="pt-PT" dirty="0"/>
            <a:t>STLM</a:t>
          </a:r>
          <a:endParaRPr lang="en-US" dirty="0"/>
        </a:p>
      </dgm:t>
    </dgm:pt>
    <dgm:pt modelId="{6FF5B95B-8DAF-4392-9878-9E3392CDCA42}" type="parTrans" cxnId="{4643663C-9950-453F-A8FF-063AB473A1C8}">
      <dgm:prSet/>
      <dgm:spPr/>
      <dgm:t>
        <a:bodyPr/>
        <a:lstStyle/>
        <a:p>
          <a:endParaRPr lang="en-US"/>
        </a:p>
      </dgm:t>
    </dgm:pt>
    <dgm:pt modelId="{CFBDA844-6D56-4BDB-A4D6-BEB25DDC63C0}" type="sibTrans" cxnId="{4643663C-9950-453F-A8FF-063AB473A1C8}">
      <dgm:prSet/>
      <dgm:spPr/>
      <dgm:t>
        <a:bodyPr/>
        <a:lstStyle/>
        <a:p>
          <a:endParaRPr lang="en-US"/>
        </a:p>
      </dgm:t>
    </dgm:pt>
    <dgm:pt modelId="{680BE8FB-BCE2-8A4F-B534-160E7CF72241}" type="pres">
      <dgm:prSet presAssocID="{88F231F2-2ABE-4CD7-AE05-A9C81423AC68}" presName="vert0" presStyleCnt="0">
        <dgm:presLayoutVars>
          <dgm:dir/>
          <dgm:animOne val="branch"/>
          <dgm:animLvl val="lvl"/>
        </dgm:presLayoutVars>
      </dgm:prSet>
      <dgm:spPr/>
    </dgm:pt>
    <dgm:pt modelId="{F5E29576-2396-1744-939E-D8CA1380E40A}" type="pres">
      <dgm:prSet presAssocID="{97C2752F-04FB-4B57-8321-2B84D7E62A6D}" presName="thickLine" presStyleLbl="alignNode1" presStyleIdx="0" presStyleCnt="4"/>
      <dgm:spPr/>
    </dgm:pt>
    <dgm:pt modelId="{42DD3B58-10E4-9F4A-B651-88B9D6A3CA73}" type="pres">
      <dgm:prSet presAssocID="{97C2752F-04FB-4B57-8321-2B84D7E62A6D}" presName="horz1" presStyleCnt="0"/>
      <dgm:spPr/>
    </dgm:pt>
    <dgm:pt modelId="{9CD75D13-4BDE-B445-8511-C1CC1FBF7658}" type="pres">
      <dgm:prSet presAssocID="{97C2752F-04FB-4B57-8321-2B84D7E62A6D}" presName="tx1" presStyleLbl="revTx" presStyleIdx="0" presStyleCnt="4"/>
      <dgm:spPr/>
    </dgm:pt>
    <dgm:pt modelId="{D845C147-B40F-DF4D-AB8E-C453E8235264}" type="pres">
      <dgm:prSet presAssocID="{97C2752F-04FB-4B57-8321-2B84D7E62A6D}" presName="vert1" presStyleCnt="0"/>
      <dgm:spPr/>
    </dgm:pt>
    <dgm:pt modelId="{B2E2B74B-1ECB-FB4D-937C-58598D874FE9}" type="pres">
      <dgm:prSet presAssocID="{D37E16EA-CA4A-48EB-8082-652D7FBE274F}" presName="thickLine" presStyleLbl="alignNode1" presStyleIdx="1" presStyleCnt="4"/>
      <dgm:spPr/>
    </dgm:pt>
    <dgm:pt modelId="{27852608-B4A6-A34A-98D2-75AD88C566EA}" type="pres">
      <dgm:prSet presAssocID="{D37E16EA-CA4A-48EB-8082-652D7FBE274F}" presName="horz1" presStyleCnt="0"/>
      <dgm:spPr/>
    </dgm:pt>
    <dgm:pt modelId="{B304CD5E-EEFF-F145-955B-0D58C047C6AF}" type="pres">
      <dgm:prSet presAssocID="{D37E16EA-CA4A-48EB-8082-652D7FBE274F}" presName="tx1" presStyleLbl="revTx" presStyleIdx="1" presStyleCnt="4"/>
      <dgm:spPr/>
    </dgm:pt>
    <dgm:pt modelId="{48691203-BC45-E343-BDC4-7CA2083EDC4F}" type="pres">
      <dgm:prSet presAssocID="{D37E16EA-CA4A-48EB-8082-652D7FBE274F}" presName="vert1" presStyleCnt="0"/>
      <dgm:spPr/>
    </dgm:pt>
    <dgm:pt modelId="{C4892CE0-B01C-A041-94D4-477D9915753F}" type="pres">
      <dgm:prSet presAssocID="{4AB04389-48F6-44BB-A53A-B902FB958C4F}" presName="thickLine" presStyleLbl="alignNode1" presStyleIdx="2" presStyleCnt="4"/>
      <dgm:spPr/>
    </dgm:pt>
    <dgm:pt modelId="{1BE4B073-C8C2-A940-BBF9-D31013913830}" type="pres">
      <dgm:prSet presAssocID="{4AB04389-48F6-44BB-A53A-B902FB958C4F}" presName="horz1" presStyleCnt="0"/>
      <dgm:spPr/>
    </dgm:pt>
    <dgm:pt modelId="{0C3CA5AF-62F5-CF48-B7E1-9FAC0FDDE0BE}" type="pres">
      <dgm:prSet presAssocID="{4AB04389-48F6-44BB-A53A-B902FB958C4F}" presName="tx1" presStyleLbl="revTx" presStyleIdx="2" presStyleCnt="4"/>
      <dgm:spPr/>
    </dgm:pt>
    <dgm:pt modelId="{1D200D19-BD42-294B-AD41-0A56895C3643}" type="pres">
      <dgm:prSet presAssocID="{4AB04389-48F6-44BB-A53A-B902FB958C4F}" presName="vert1" presStyleCnt="0"/>
      <dgm:spPr/>
    </dgm:pt>
    <dgm:pt modelId="{D4FF2B0E-EF84-BC45-B84E-96B76297C68F}" type="pres">
      <dgm:prSet presAssocID="{891385A4-AC3F-4446-849C-FA7E0FE18DA5}" presName="thickLine" presStyleLbl="alignNode1" presStyleIdx="3" presStyleCnt="4"/>
      <dgm:spPr/>
    </dgm:pt>
    <dgm:pt modelId="{84130BD1-03B1-6445-814C-34F53B1480C6}" type="pres">
      <dgm:prSet presAssocID="{891385A4-AC3F-4446-849C-FA7E0FE18DA5}" presName="horz1" presStyleCnt="0"/>
      <dgm:spPr/>
    </dgm:pt>
    <dgm:pt modelId="{30D9E550-A42F-B54E-9A7B-FD748BBA26CA}" type="pres">
      <dgm:prSet presAssocID="{891385A4-AC3F-4446-849C-FA7E0FE18DA5}" presName="tx1" presStyleLbl="revTx" presStyleIdx="3" presStyleCnt="4"/>
      <dgm:spPr/>
    </dgm:pt>
    <dgm:pt modelId="{2A24034F-9875-D544-B036-247D1B11FCF7}" type="pres">
      <dgm:prSet presAssocID="{891385A4-AC3F-4446-849C-FA7E0FE18DA5}" presName="vert1" presStyleCnt="0"/>
      <dgm:spPr/>
    </dgm:pt>
  </dgm:ptLst>
  <dgm:cxnLst>
    <dgm:cxn modelId="{617DD90A-2987-40EC-9CBB-3E98DAFA358D}" srcId="{88F231F2-2ABE-4CD7-AE05-A9C81423AC68}" destId="{97C2752F-04FB-4B57-8321-2B84D7E62A6D}" srcOrd="0" destOrd="0" parTransId="{C0A62DE7-CF8E-4951-95A9-3EFDE8E41A95}" sibTransId="{D106129B-9C5D-4586-BC56-3566487926C5}"/>
    <dgm:cxn modelId="{B5B7B22C-F189-CB4D-B6F0-1467E8CBD20A}" type="presOf" srcId="{4AB04389-48F6-44BB-A53A-B902FB958C4F}" destId="{0C3CA5AF-62F5-CF48-B7E1-9FAC0FDDE0BE}" srcOrd="0" destOrd="0" presId="urn:microsoft.com/office/officeart/2008/layout/LinedList"/>
    <dgm:cxn modelId="{4643663C-9950-453F-A8FF-063AB473A1C8}" srcId="{88F231F2-2ABE-4CD7-AE05-A9C81423AC68}" destId="{891385A4-AC3F-4446-849C-FA7E0FE18DA5}" srcOrd="3" destOrd="0" parTransId="{6FF5B95B-8DAF-4392-9878-9E3392CDCA42}" sibTransId="{CFBDA844-6D56-4BDB-A4D6-BEB25DDC63C0}"/>
    <dgm:cxn modelId="{13C31A5B-D969-B14D-BB3A-2032E483712C}" type="presOf" srcId="{88F231F2-2ABE-4CD7-AE05-A9C81423AC68}" destId="{680BE8FB-BCE2-8A4F-B534-160E7CF72241}" srcOrd="0" destOrd="0" presId="urn:microsoft.com/office/officeart/2008/layout/LinedList"/>
    <dgm:cxn modelId="{94ACE27C-6D42-B740-A24C-EF1DFF888079}" type="presOf" srcId="{D37E16EA-CA4A-48EB-8082-652D7FBE274F}" destId="{B304CD5E-EEFF-F145-955B-0D58C047C6AF}" srcOrd="0" destOrd="0" presId="urn:microsoft.com/office/officeart/2008/layout/LinedList"/>
    <dgm:cxn modelId="{AA0D3D96-9C1C-0744-92A7-F11F3E9E4B09}" type="presOf" srcId="{97C2752F-04FB-4B57-8321-2B84D7E62A6D}" destId="{9CD75D13-4BDE-B445-8511-C1CC1FBF7658}" srcOrd="0" destOrd="0" presId="urn:microsoft.com/office/officeart/2008/layout/LinedList"/>
    <dgm:cxn modelId="{6C361EC1-6898-44C9-9AF3-03B7E25EC5A0}" srcId="{88F231F2-2ABE-4CD7-AE05-A9C81423AC68}" destId="{4AB04389-48F6-44BB-A53A-B902FB958C4F}" srcOrd="2" destOrd="0" parTransId="{7EB586CF-7F82-4DED-B770-B78F85971D88}" sibTransId="{F1B2DF70-4C51-4159-BAB4-D46C1097497B}"/>
    <dgm:cxn modelId="{2562FAE0-5F28-7549-9FA6-2370C3B9AEAB}" type="presOf" srcId="{891385A4-AC3F-4446-849C-FA7E0FE18DA5}" destId="{30D9E550-A42F-B54E-9A7B-FD748BBA26CA}" srcOrd="0" destOrd="0" presId="urn:microsoft.com/office/officeart/2008/layout/LinedList"/>
    <dgm:cxn modelId="{5F8456FE-0934-4912-81EE-4433B8F4B49E}" srcId="{88F231F2-2ABE-4CD7-AE05-A9C81423AC68}" destId="{D37E16EA-CA4A-48EB-8082-652D7FBE274F}" srcOrd="1" destOrd="0" parTransId="{E14A8C3D-4631-4EF8-A9CD-23CB22B5A93A}" sibTransId="{56459D47-AA0B-4A2C-B072-6F5C9B4EF07C}"/>
    <dgm:cxn modelId="{B649C425-928F-2740-A328-F32326975A54}" type="presParOf" srcId="{680BE8FB-BCE2-8A4F-B534-160E7CF72241}" destId="{F5E29576-2396-1744-939E-D8CA1380E40A}" srcOrd="0" destOrd="0" presId="urn:microsoft.com/office/officeart/2008/layout/LinedList"/>
    <dgm:cxn modelId="{FDB28A12-BD50-5748-BA3B-239D714A3186}" type="presParOf" srcId="{680BE8FB-BCE2-8A4F-B534-160E7CF72241}" destId="{42DD3B58-10E4-9F4A-B651-88B9D6A3CA73}" srcOrd="1" destOrd="0" presId="urn:microsoft.com/office/officeart/2008/layout/LinedList"/>
    <dgm:cxn modelId="{B64BC8B2-8FD8-CB47-8EA9-2CCEB693E9C8}" type="presParOf" srcId="{42DD3B58-10E4-9F4A-B651-88B9D6A3CA73}" destId="{9CD75D13-4BDE-B445-8511-C1CC1FBF7658}" srcOrd="0" destOrd="0" presId="urn:microsoft.com/office/officeart/2008/layout/LinedList"/>
    <dgm:cxn modelId="{921726C3-6BCD-1E40-B428-F2E434E99FB4}" type="presParOf" srcId="{42DD3B58-10E4-9F4A-B651-88B9D6A3CA73}" destId="{D845C147-B40F-DF4D-AB8E-C453E8235264}" srcOrd="1" destOrd="0" presId="urn:microsoft.com/office/officeart/2008/layout/LinedList"/>
    <dgm:cxn modelId="{D8166CB6-A4F6-7447-A5FC-6A27859B311D}" type="presParOf" srcId="{680BE8FB-BCE2-8A4F-B534-160E7CF72241}" destId="{B2E2B74B-1ECB-FB4D-937C-58598D874FE9}" srcOrd="2" destOrd="0" presId="urn:microsoft.com/office/officeart/2008/layout/LinedList"/>
    <dgm:cxn modelId="{52BA1265-2879-4646-9EE0-E6DA0AFA0E2A}" type="presParOf" srcId="{680BE8FB-BCE2-8A4F-B534-160E7CF72241}" destId="{27852608-B4A6-A34A-98D2-75AD88C566EA}" srcOrd="3" destOrd="0" presId="urn:microsoft.com/office/officeart/2008/layout/LinedList"/>
    <dgm:cxn modelId="{F78C2147-3A52-404A-AB56-2AA7382955D2}" type="presParOf" srcId="{27852608-B4A6-A34A-98D2-75AD88C566EA}" destId="{B304CD5E-EEFF-F145-955B-0D58C047C6AF}" srcOrd="0" destOrd="0" presId="urn:microsoft.com/office/officeart/2008/layout/LinedList"/>
    <dgm:cxn modelId="{0C4BD266-7F7D-FE4B-B3AD-DDFEC5675362}" type="presParOf" srcId="{27852608-B4A6-A34A-98D2-75AD88C566EA}" destId="{48691203-BC45-E343-BDC4-7CA2083EDC4F}" srcOrd="1" destOrd="0" presId="urn:microsoft.com/office/officeart/2008/layout/LinedList"/>
    <dgm:cxn modelId="{BAEB0C49-A2F8-9A42-AA3B-3B1CEB12AC22}" type="presParOf" srcId="{680BE8FB-BCE2-8A4F-B534-160E7CF72241}" destId="{C4892CE0-B01C-A041-94D4-477D9915753F}" srcOrd="4" destOrd="0" presId="urn:microsoft.com/office/officeart/2008/layout/LinedList"/>
    <dgm:cxn modelId="{0B1FC377-B3D1-084F-868D-2A7FF5351FB4}" type="presParOf" srcId="{680BE8FB-BCE2-8A4F-B534-160E7CF72241}" destId="{1BE4B073-C8C2-A940-BBF9-D31013913830}" srcOrd="5" destOrd="0" presId="urn:microsoft.com/office/officeart/2008/layout/LinedList"/>
    <dgm:cxn modelId="{D7E97DEB-3714-694F-A716-E9F2224C6042}" type="presParOf" srcId="{1BE4B073-C8C2-A940-BBF9-D31013913830}" destId="{0C3CA5AF-62F5-CF48-B7E1-9FAC0FDDE0BE}" srcOrd="0" destOrd="0" presId="urn:microsoft.com/office/officeart/2008/layout/LinedList"/>
    <dgm:cxn modelId="{C83E73DE-0F90-4B4C-B7AF-7A46A4305158}" type="presParOf" srcId="{1BE4B073-C8C2-A940-BBF9-D31013913830}" destId="{1D200D19-BD42-294B-AD41-0A56895C3643}" srcOrd="1" destOrd="0" presId="urn:microsoft.com/office/officeart/2008/layout/LinedList"/>
    <dgm:cxn modelId="{8616ABD1-24FE-F143-9AA6-DF87AF141884}" type="presParOf" srcId="{680BE8FB-BCE2-8A4F-B534-160E7CF72241}" destId="{D4FF2B0E-EF84-BC45-B84E-96B76297C68F}" srcOrd="6" destOrd="0" presId="urn:microsoft.com/office/officeart/2008/layout/LinedList"/>
    <dgm:cxn modelId="{EDBAA18B-45D4-534A-A91E-BDF2DE47196B}" type="presParOf" srcId="{680BE8FB-BCE2-8A4F-B534-160E7CF72241}" destId="{84130BD1-03B1-6445-814C-34F53B1480C6}" srcOrd="7" destOrd="0" presId="urn:microsoft.com/office/officeart/2008/layout/LinedList"/>
    <dgm:cxn modelId="{1B695E25-AC31-BE40-B6E8-0B5736826B65}" type="presParOf" srcId="{84130BD1-03B1-6445-814C-34F53B1480C6}" destId="{30D9E550-A42F-B54E-9A7B-FD748BBA26CA}" srcOrd="0" destOrd="0" presId="urn:microsoft.com/office/officeart/2008/layout/LinedList"/>
    <dgm:cxn modelId="{A7E2BBC3-3C13-5748-ABF3-48E7C80E6F48}" type="presParOf" srcId="{84130BD1-03B1-6445-814C-34F53B1480C6}" destId="{2A24034F-9875-D544-B036-247D1B11FCF7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5E29576-2396-1744-939E-D8CA1380E40A}">
      <dsp:nvSpPr>
        <dsp:cNvPr id="0" name=""/>
        <dsp:cNvSpPr/>
      </dsp:nvSpPr>
      <dsp:spPr>
        <a:xfrm>
          <a:off x="0" y="0"/>
          <a:ext cx="10261599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CD75D13-4BDE-B445-8511-C1CC1FBF7658}">
      <dsp:nvSpPr>
        <dsp:cNvPr id="0" name=""/>
        <dsp:cNvSpPr/>
      </dsp:nvSpPr>
      <dsp:spPr>
        <a:xfrm>
          <a:off x="0" y="0"/>
          <a:ext cx="10261599" cy="77549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0970" tIns="140970" rIns="140970" bIns="140970" numCol="1" spcCol="1270" anchor="t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3700" kern="1200" dirty="0"/>
            <a:t>SARIMA</a:t>
          </a:r>
          <a:endParaRPr lang="en-US" sz="3700" kern="1200" dirty="0"/>
        </a:p>
      </dsp:txBody>
      <dsp:txXfrm>
        <a:off x="0" y="0"/>
        <a:ext cx="10261599" cy="775493"/>
      </dsp:txXfrm>
    </dsp:sp>
    <dsp:sp modelId="{B2E2B74B-1ECB-FB4D-937C-58598D874FE9}">
      <dsp:nvSpPr>
        <dsp:cNvPr id="0" name=""/>
        <dsp:cNvSpPr/>
      </dsp:nvSpPr>
      <dsp:spPr>
        <a:xfrm>
          <a:off x="0" y="775493"/>
          <a:ext cx="10261599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304CD5E-EEFF-F145-955B-0D58C047C6AF}">
      <dsp:nvSpPr>
        <dsp:cNvPr id="0" name=""/>
        <dsp:cNvSpPr/>
      </dsp:nvSpPr>
      <dsp:spPr>
        <a:xfrm>
          <a:off x="0" y="775493"/>
          <a:ext cx="10261599" cy="77549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0970" tIns="140970" rIns="140970" bIns="140970" numCol="1" spcCol="1270" anchor="t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3700" kern="1200" dirty="0"/>
            <a:t>GARCH</a:t>
          </a:r>
          <a:endParaRPr lang="en-US" sz="3700" kern="1200" dirty="0"/>
        </a:p>
      </dsp:txBody>
      <dsp:txXfrm>
        <a:off x="0" y="775493"/>
        <a:ext cx="10261599" cy="775493"/>
      </dsp:txXfrm>
    </dsp:sp>
    <dsp:sp modelId="{C4892CE0-B01C-A041-94D4-477D9915753F}">
      <dsp:nvSpPr>
        <dsp:cNvPr id="0" name=""/>
        <dsp:cNvSpPr/>
      </dsp:nvSpPr>
      <dsp:spPr>
        <a:xfrm>
          <a:off x="0" y="1550987"/>
          <a:ext cx="10261599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3CA5AF-62F5-CF48-B7E1-9FAC0FDDE0BE}">
      <dsp:nvSpPr>
        <dsp:cNvPr id="0" name=""/>
        <dsp:cNvSpPr/>
      </dsp:nvSpPr>
      <dsp:spPr>
        <a:xfrm>
          <a:off x="0" y="1550987"/>
          <a:ext cx="10261599" cy="77549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0970" tIns="140970" rIns="140970" bIns="140970" numCol="1" spcCol="1270" anchor="t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3700" kern="1200" dirty="0"/>
            <a:t>ETS</a:t>
          </a:r>
          <a:endParaRPr lang="en-US" sz="3700" kern="1200" dirty="0"/>
        </a:p>
      </dsp:txBody>
      <dsp:txXfrm>
        <a:off x="0" y="1550987"/>
        <a:ext cx="10261599" cy="775493"/>
      </dsp:txXfrm>
    </dsp:sp>
    <dsp:sp modelId="{D4FF2B0E-EF84-BC45-B84E-96B76297C68F}">
      <dsp:nvSpPr>
        <dsp:cNvPr id="0" name=""/>
        <dsp:cNvSpPr/>
      </dsp:nvSpPr>
      <dsp:spPr>
        <a:xfrm>
          <a:off x="0" y="2326481"/>
          <a:ext cx="10261599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0D9E550-A42F-B54E-9A7B-FD748BBA26CA}">
      <dsp:nvSpPr>
        <dsp:cNvPr id="0" name=""/>
        <dsp:cNvSpPr/>
      </dsp:nvSpPr>
      <dsp:spPr>
        <a:xfrm>
          <a:off x="0" y="2326481"/>
          <a:ext cx="10261599" cy="77549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0970" tIns="140970" rIns="140970" bIns="140970" numCol="1" spcCol="1270" anchor="t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3700" kern="1200" dirty="0"/>
            <a:t>STLM</a:t>
          </a:r>
          <a:endParaRPr lang="en-US" sz="3700" kern="1200" dirty="0"/>
        </a:p>
      </dsp:txBody>
      <dsp:txXfrm>
        <a:off x="0" y="2326481"/>
        <a:ext cx="10261599" cy="77549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3EA34C-9AFF-2249-84E1-B124EBF18696}" type="datetimeFigureOut">
              <a:rPr lang="en-PT" smtClean="0"/>
              <a:t>11/06/2025</a:t>
            </a:fld>
            <a:endParaRPr lang="en-P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P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P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E526933-0EE0-0045-9B90-D437E95F6CD2}" type="slidenum">
              <a:rPr lang="en-PT" smtClean="0"/>
              <a:t>‹#›</a:t>
            </a:fld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40121920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526933-0EE0-0045-9B90-D437E95F6CD2}" type="slidenum">
              <a:rPr lang="en-PT" smtClean="0"/>
              <a:t>4</a:t>
            </a:fld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34580167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1789D-7397-0746-936F-FCB6CAF06201}" type="datetime1">
              <a:rPr lang="en-US" smtClean="0"/>
              <a:t>6/11/25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44384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511E54-4010-5F41-84CF-866B4D0376CF}" type="datetime1">
              <a:rPr lang="en-US" smtClean="0"/>
              <a:t>6/11/25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58643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B6AE9-091D-ED42-A71D-D8734B448316}" type="datetime1">
              <a:rPr lang="en-US" smtClean="0"/>
              <a:t>6/11/25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28040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45AE2-353B-DB4A-8156-9FBD00A5A056}" type="datetime1">
              <a:rPr lang="en-US" smtClean="0"/>
              <a:t>6/11/25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01632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AD93A5-F0AA-E141-BE1C-D49DBFA49EA8}" type="datetime1">
              <a:rPr lang="en-US" smtClean="0"/>
              <a:t>6/11/25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8412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34D84E-9AFE-504A-8542-6872970C604D}" type="datetime1">
              <a:rPr lang="en-US" smtClean="0"/>
              <a:t>6/11/25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29968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99C2D1-D34F-D146-B405-1241C291F4C3}" type="datetime1">
              <a:rPr lang="en-US" smtClean="0"/>
              <a:t>6/11/25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11672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37B4C-699E-0047-A2F3-3BAF77E1D80C}" type="datetime1">
              <a:rPr lang="en-US" smtClean="0"/>
              <a:t>6/11/25</a:t>
            </a:fld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26988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8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BADFC25F-17A7-FB4A-ACDE-8081FA614CF0}" type="datetime1">
              <a:rPr lang="en-US" smtClean="0"/>
              <a:t>6/11/25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3383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71B379-C2BC-FC44-96DD-FCABC7F3A568}" type="datetime1">
              <a:rPr lang="en-US" smtClean="0"/>
              <a:t>6/11/25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9489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6F1242-A42E-D349-AEE9-A0D9932A8217}" type="datetime1">
              <a:rPr lang="en-US" smtClean="0"/>
              <a:t>6/11/25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55776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chemeClr val="bg1"/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A91B09D2-E2B7-8A49-9CAD-1FE5553BC897}" type="datetime1">
              <a:rPr lang="en-US" smtClean="0"/>
              <a:t>6/11/25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3995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hf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4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39A9FD0-5571-4B09-5B4B-4793DBAF41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ign in a power plant&#10;&#10;AI-generated content may be incorrect.">
            <a:extLst>
              <a:ext uri="{FF2B5EF4-FFF2-40B4-BE49-F238E27FC236}">
                <a16:creationId xmlns:a16="http://schemas.microsoft.com/office/drawing/2014/main" id="{BDEF14E4-938B-34F8-F72C-02BFF3E8D17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8167" b="15653"/>
          <a:stretch>
            <a:fillRect/>
          </a:stretch>
        </p:blipFill>
        <p:spPr>
          <a:xfrm>
            <a:off x="20" y="10"/>
            <a:ext cx="12191980" cy="4571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2226E24-4081-605F-E6B4-579957805E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00200" y="3753529"/>
            <a:ext cx="8991600" cy="1645759"/>
          </a:xfrm>
        </p:spPr>
        <p:txBody>
          <a:bodyPr>
            <a:normAutofit/>
          </a:bodyPr>
          <a:lstStyle/>
          <a:p>
            <a:r>
              <a:rPr lang="pt-PT" sz="2900" noProof="0"/>
              <a:t>Modelação e Previsão do Consumo Mensal de Eletricidade em Espanha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CF46FB28-4C7F-F675-698D-9954D0173C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4" y="5704731"/>
            <a:ext cx="6801612" cy="513189"/>
          </a:xfrm>
        </p:spPr>
        <p:txBody>
          <a:bodyPr>
            <a:normAutofit/>
          </a:bodyPr>
          <a:lstStyle/>
          <a:p>
            <a:r>
              <a:rPr lang="en-PT" dirty="0"/>
              <a:t>Hugo Veríssimo</a:t>
            </a:r>
          </a:p>
        </p:txBody>
      </p:sp>
      <p:pic>
        <p:nvPicPr>
          <p:cNvPr id="10" name="Picture 9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AB3C5A25-2B48-A03E-D71C-B76A501C78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68323" y="6375739"/>
            <a:ext cx="1325062" cy="3926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80470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76C5C7A-CAA0-DBE4-0241-AFFE6E8754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69145" y="2313433"/>
            <a:ext cx="4784539" cy="964339"/>
          </a:xfrm>
        </p:spPr>
        <p:txBody>
          <a:bodyPr>
            <a:normAutofit/>
          </a:bodyPr>
          <a:lstStyle/>
          <a:p>
            <a:r>
              <a:rPr lang="pt-PT" noProof="0" dirty="0"/>
              <a:t>Importância da monitorização do consumo elétrico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5DF600-AED1-F0BF-A801-84DFCFC964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69145" y="3428999"/>
            <a:ext cx="4784539" cy="2311027"/>
          </a:xfrm>
        </p:spPr>
        <p:txBody>
          <a:bodyPr/>
          <a:lstStyle/>
          <a:p>
            <a:r>
              <a:rPr lang="pt-PT" noProof="0" dirty="0"/>
              <a:t>Papel crucial na gestão energética de países desenvolvidos</a:t>
            </a:r>
          </a:p>
          <a:p>
            <a:r>
              <a:rPr lang="pt-PT" noProof="0" dirty="0"/>
              <a:t>Apoio ao planeamento de capacidade, definição de políticas e avaliação ambiental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5E6327-B0C9-9FF0-3757-C28552BBC2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38315" y="3428999"/>
            <a:ext cx="4784539" cy="2311027"/>
          </a:xfrm>
        </p:spPr>
        <p:txBody>
          <a:bodyPr/>
          <a:lstStyle/>
          <a:p>
            <a:r>
              <a:rPr lang="pt-PT" noProof="0" dirty="0"/>
              <a:t>Economia de grande dimensão energética na Europa</a:t>
            </a:r>
          </a:p>
          <a:p>
            <a:r>
              <a:rPr lang="pt-PT" noProof="0" dirty="0"/>
              <a:t>Contexto ideal para testar a robustez de modelos preditivos em ambientes dinâmicos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4F999E8-7FC2-492C-0D7E-E28CB77F88C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521195" y="2309036"/>
            <a:ext cx="4420607" cy="964339"/>
          </a:xfrm>
        </p:spPr>
        <p:txBody>
          <a:bodyPr/>
          <a:lstStyle/>
          <a:p>
            <a:r>
              <a:rPr lang="pt-PT" noProof="0" dirty="0"/>
              <a:t>Relevância do caso de estudo: Espanha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2B693E-2E01-DD09-7D10-29ED3BF711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t>2</a:t>
            </a:fld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05605A8-9A5D-4F5A-8691-3CF426CFE3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T" dirty="0"/>
              <a:t>Enquadramento</a:t>
            </a:r>
          </a:p>
        </p:txBody>
      </p:sp>
    </p:spTree>
    <p:extLst>
      <p:ext uri="{BB962C8B-B14F-4D97-AF65-F5344CB8AC3E}">
        <p14:creationId xmlns:p14="http://schemas.microsoft.com/office/powerpoint/2010/main" val="8146505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8D0CC-ADD0-7AA2-B89A-A1592D8CE3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38928" y="964692"/>
            <a:ext cx="6092952" cy="1188720"/>
          </a:xfrm>
        </p:spPr>
        <p:txBody>
          <a:bodyPr>
            <a:normAutofit/>
          </a:bodyPr>
          <a:lstStyle/>
          <a:p>
            <a:r>
              <a:rPr lang="pt-PT" noProof="0" dirty="0"/>
              <a:t>Análise Exploratória</a:t>
            </a:r>
          </a:p>
        </p:txBody>
      </p:sp>
      <p:pic>
        <p:nvPicPr>
          <p:cNvPr id="7" name="Picture 6" descr="A grid of white lines&#10;&#10;AI-generated content may be incorrect.">
            <a:extLst>
              <a:ext uri="{FF2B5EF4-FFF2-40B4-BE49-F238E27FC236}">
                <a16:creationId xmlns:a16="http://schemas.microsoft.com/office/drawing/2014/main" id="{20B6DD2C-B855-8E28-AE8D-5B5661A1F1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400" y="883507"/>
            <a:ext cx="4007374" cy="2294221"/>
          </a:xfrm>
          <a:prstGeom prst="rect">
            <a:avLst/>
          </a:prstGeom>
          <a:ln w="31750" cap="sq">
            <a:noFill/>
            <a:miter lim="800000"/>
          </a:ln>
        </p:spPr>
      </p:pic>
      <p:pic>
        <p:nvPicPr>
          <p:cNvPr id="8" name="Content Placeholder 5" descr="A graph with blue and red lines&#10;&#10;AI-generated content may be incorrect.">
            <a:extLst>
              <a:ext uri="{FF2B5EF4-FFF2-40B4-BE49-F238E27FC236}">
                <a16:creationId xmlns:a16="http://schemas.microsoft.com/office/drawing/2014/main" id="{BFFD6F35-0B53-F3C3-483E-5C1327B936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399" y="3680273"/>
            <a:ext cx="4007373" cy="2294220"/>
          </a:xfrm>
          <a:prstGeom prst="rect">
            <a:avLst/>
          </a:prstGeom>
          <a:ln w="31750" cap="sq">
            <a:noFill/>
            <a:miter lim="800000"/>
          </a:ln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73DBDC-37C7-EF80-01A4-FE42238D9F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9646" y="2475146"/>
            <a:ext cx="6142233" cy="3687762"/>
          </a:xfrm>
        </p:spPr>
        <p:txBody>
          <a:bodyPr>
            <a:normAutofit/>
          </a:bodyPr>
          <a:lstStyle/>
          <a:p>
            <a:r>
              <a:rPr lang="pt-PT" noProof="0" dirty="0"/>
              <a:t>Consumo mensal de eletricidade (</a:t>
            </a:r>
            <a:r>
              <a:rPr lang="pt-PT" noProof="0" dirty="0" err="1"/>
              <a:t>GWh</a:t>
            </a:r>
            <a:r>
              <a:rPr lang="pt-PT" noProof="0" dirty="0"/>
              <a:t>) em Espanha</a:t>
            </a:r>
          </a:p>
          <a:p>
            <a:r>
              <a:rPr lang="pt-PT" noProof="0" dirty="0"/>
              <a:t>Janeiro de 2008 a fevereiro de 2025 (206 observações)</a:t>
            </a:r>
          </a:p>
          <a:p>
            <a:endParaRPr lang="pt-PT" sz="1200" noProof="0" dirty="0"/>
          </a:p>
          <a:p>
            <a:r>
              <a:rPr lang="pt-PT" dirty="0"/>
              <a:t>Sazonalidade? Sim</a:t>
            </a:r>
            <a:endParaRPr lang="pt-PT" noProof="0" dirty="0"/>
          </a:p>
          <a:p>
            <a:r>
              <a:rPr lang="pt-PT" noProof="0" dirty="0"/>
              <a:t>Tendência? Talvez</a:t>
            </a:r>
          </a:p>
          <a:p>
            <a:r>
              <a:rPr lang="pt-PT" dirty="0"/>
              <a:t>Variância constante? Talvez</a:t>
            </a:r>
            <a:endParaRPr lang="pt-PT" noProof="0" dirty="0"/>
          </a:p>
          <a:p>
            <a:r>
              <a:rPr lang="pt-PT" dirty="0" err="1"/>
              <a:t>Outliers</a:t>
            </a:r>
            <a:r>
              <a:rPr lang="pt-PT" dirty="0"/>
              <a:t>? 2020</a:t>
            </a:r>
          </a:p>
          <a:p>
            <a:endParaRPr lang="pt-PT" sz="1200" dirty="0"/>
          </a:p>
          <a:p>
            <a:r>
              <a:rPr lang="pt-PT" dirty="0"/>
              <a:t>Separação em teste e treino (80/20)</a:t>
            </a:r>
            <a:endParaRPr lang="pt-PT" noProof="0" dirty="0"/>
          </a:p>
          <a:p>
            <a:pPr marL="0" indent="0">
              <a:buNone/>
            </a:pPr>
            <a:endParaRPr lang="pt-PT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5822E4-D610-308F-EAB5-826D2A3E6B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58922" y="6217920"/>
            <a:ext cx="365760" cy="36576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8A7A6979-0714-4377-B894-6BE4C2D6E202}" type="slidenum">
              <a:rPr lang="pt-PT" noProof="0" smtClean="0"/>
              <a:pPr>
                <a:lnSpc>
                  <a:spcPct val="90000"/>
                </a:lnSpc>
                <a:spcAft>
                  <a:spcPts val="600"/>
                </a:spcAft>
              </a:pPr>
              <a:t>3</a:t>
            </a:fld>
            <a:endParaRPr lang="pt-PT" noProof="0" dirty="0"/>
          </a:p>
        </p:txBody>
      </p:sp>
    </p:spTree>
    <p:extLst>
      <p:ext uri="{BB962C8B-B14F-4D97-AF65-F5344CB8AC3E}">
        <p14:creationId xmlns:p14="http://schemas.microsoft.com/office/powerpoint/2010/main" val="34147574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824667-22DB-00AF-BDD5-5BE374D58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81807" y="964692"/>
            <a:ext cx="5894832" cy="1188720"/>
          </a:xfrm>
        </p:spPr>
        <p:txBody>
          <a:bodyPr>
            <a:normAutofit/>
          </a:bodyPr>
          <a:lstStyle/>
          <a:p>
            <a:r>
              <a:rPr lang="pt-PT" noProof="0" dirty="0" err="1"/>
              <a:t>Estacionariedade</a:t>
            </a:r>
            <a:endParaRPr lang="pt-PT" noProof="0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1EEA9CC-FD23-4544-9417-FE9080DFB3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98315" y="964692"/>
            <a:ext cx="3986784" cy="4936558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noProof="0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FC4C7DC-5B5A-4159-A1CF-D56CF640CD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62907" y="1128683"/>
            <a:ext cx="3657600" cy="4608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noProof="0" dirty="0"/>
          </a:p>
        </p:txBody>
      </p:sp>
      <p:pic>
        <p:nvPicPr>
          <p:cNvPr id="7" name="Content Placeholder 5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AB70F510-7317-F57B-6BAD-0ED01A90F6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8094" y="1293275"/>
            <a:ext cx="3327225" cy="427939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2CB353-1660-F52A-DC62-D908B62BCC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380378" y="2310714"/>
                <a:ext cx="5963317" cy="3590536"/>
              </a:xfrm>
            </p:spPr>
            <p:txBody>
              <a:bodyPr>
                <a:normAutofit/>
              </a:bodyPr>
              <a:lstStyle/>
              <a:p>
                <a:pPr marL="0" indent="0" algn="ctr">
                  <a:buNone/>
                </a:pPr>
                <a:r>
                  <a:rPr lang="pt-PT" noProof="0" dirty="0"/>
                  <a:t>Heterocedasticidade</a:t>
                </a:r>
              </a:p>
              <a:p>
                <a:pPr marL="0" indent="0" algn="ctr">
                  <a:buNone/>
                </a:pPr>
                <a:endParaRPr lang="pt-PT" sz="100" noProof="0" dirty="0"/>
              </a:p>
              <a:p>
                <a:r>
                  <a:rPr lang="pt-PT" noProof="0" dirty="0"/>
                  <a:t>Transformação Box-Cox</a:t>
                </a:r>
              </a:p>
              <a:p>
                <a:endParaRPr lang="pt-PT" sz="100" noProof="0" dirty="0"/>
              </a:p>
              <a:p>
                <a:r>
                  <a:rPr lang="pt-PT" noProof="0" dirty="0"/>
                  <a:t> </a:t>
                </a:r>
              </a:p>
              <a:p>
                <a:pPr lvl="1"/>
                <a:endParaRPr lang="pt-PT" noProof="0" dirty="0"/>
              </a:p>
              <a:p>
                <a:pPr lvl="1"/>
                <a:endParaRPr lang="pt-PT" noProof="0" dirty="0"/>
              </a:p>
              <a:p>
                <a:pPr marL="228600" lvl="1" indent="0">
                  <a:buNone/>
                </a:pPr>
                <a:r>
                  <a:rPr lang="pt-PT" noProof="0" dirty="0" err="1"/>
                  <a:t>Rej</a:t>
                </a:r>
                <a:r>
                  <a:rPr lang="pt-PT" noProof="0" dirty="0"/>
                  <a:t>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PT" b="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PT" b="0" i="1" noProof="0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pt-PT" b="0" i="1" noProof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PT" noProof="0" dirty="0"/>
                  <a:t>: Não há evidência de </a:t>
                </a:r>
                <a:r>
                  <a:rPr lang="pt-PT" noProof="0" dirty="0" err="1"/>
                  <a:t>heterocedasticidade</a:t>
                </a:r>
                <a:endParaRPr lang="pt-PT" noProof="0" dirty="0"/>
              </a:p>
              <a:p>
                <a:endParaRPr lang="pt-PT" sz="100" noProof="0" dirty="0"/>
              </a:p>
              <a:p>
                <a:r>
                  <a:rPr lang="pt-PT" noProof="0" dirty="0"/>
                  <a:t>Nenhuma transformação aplicada</a:t>
                </a:r>
              </a:p>
              <a:p>
                <a:endParaRPr lang="pt-PT" noProof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2CB353-1660-F52A-DC62-D908B62BCC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80378" y="2310714"/>
                <a:ext cx="5963317" cy="3590536"/>
              </a:xfrm>
              <a:blipFill>
                <a:blip r:embed="rId4"/>
                <a:stretch>
                  <a:fillRect l="-637" t="-352"/>
                </a:stretch>
              </a:blipFill>
            </p:spPr>
            <p:txBody>
              <a:bodyPr/>
              <a:lstStyle/>
              <a:p>
                <a:r>
                  <a:rPr lang="en-P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BEAD16-73C2-CAFA-AA81-EB705E1CE5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58922" y="6217920"/>
            <a:ext cx="365760" cy="36576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8A7A6979-0714-4377-B894-6BE4C2D6E202}" type="slidenum">
              <a:rPr lang="pt-PT" noProof="0" smtClean="0"/>
              <a:pPr>
                <a:lnSpc>
                  <a:spcPct val="90000"/>
                </a:lnSpc>
                <a:spcAft>
                  <a:spcPts val="600"/>
                </a:spcAft>
              </a:pPr>
              <a:t>4</a:t>
            </a:fld>
            <a:endParaRPr lang="pt-PT" noProof="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E0B3B68-F02F-41FF-ACD4-1B57428312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8672" y="3412223"/>
            <a:ext cx="4891216" cy="1156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28063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2AF63A-F5EA-2A0F-94BD-2592F09B5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 err="1"/>
              <a:t>Estacionariedade</a:t>
            </a:r>
            <a:endParaRPr lang="en-PT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E5B3B3-6CCB-EB62-61FF-6AB6CB35A0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136" y="2253997"/>
            <a:ext cx="7729728" cy="416052"/>
          </a:xfrm>
        </p:spPr>
        <p:txBody>
          <a:bodyPr/>
          <a:lstStyle/>
          <a:p>
            <a:pPr marL="0" indent="0" algn="ctr">
              <a:buNone/>
            </a:pPr>
            <a:r>
              <a:rPr lang="en-PT" dirty="0"/>
              <a:t>Sazonalidade e Tendência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B12D75-A849-9758-8CA4-339B98FC8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5</a:t>
            </a:fld>
            <a:endParaRPr lang="en-US" dirty="0"/>
          </a:p>
        </p:txBody>
      </p:sp>
      <p:pic>
        <p:nvPicPr>
          <p:cNvPr id="5" name="Content Placeholder 5">
            <a:extLst>
              <a:ext uri="{FF2B5EF4-FFF2-40B4-BE49-F238E27FC236}">
                <a16:creationId xmlns:a16="http://schemas.microsoft.com/office/drawing/2014/main" id="{1228AC13-2C7F-BB09-35D9-C735EC1651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287" y="2746014"/>
            <a:ext cx="3803085" cy="325978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CF48991-2473-DB27-6908-A6D0C730BD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8151" y="2749181"/>
            <a:ext cx="3803086" cy="325978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EA690F4-B281-824D-48C9-ED267B866B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3015" y="2752347"/>
            <a:ext cx="3795698" cy="3253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03107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EC9E46-A336-6694-2238-48CF70CB8B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 err="1"/>
              <a:t>Estacionariedade</a:t>
            </a:r>
            <a:endParaRPr lang="en-PT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EC0F97-4137-B4E0-63A1-4112CCF66E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38648" y="5307589"/>
            <a:ext cx="9114703" cy="475595"/>
          </a:xfrm>
        </p:spPr>
        <p:txBody>
          <a:bodyPr/>
          <a:lstStyle/>
          <a:p>
            <a:pPr marL="0" indent="0" algn="ctr">
              <a:buNone/>
            </a:pPr>
            <a:r>
              <a:rPr lang="en-PT" dirty="0"/>
              <a:t>Ambos os testes confirmam a estacionariedade da série após a diferenciação de ordem 1 e 12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D90670-01A5-BD88-0179-54651CAB8D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6</a:t>
            </a:fld>
            <a:endParaRPr lang="en-US" dirty="0"/>
          </a:p>
        </p:txBody>
      </p:sp>
      <p:pic>
        <p:nvPicPr>
          <p:cNvPr id="5" name="Picture 4" descr="A computer screen shot of a black screen&#10;&#10;AI-generated content may be incorrect.">
            <a:extLst>
              <a:ext uri="{FF2B5EF4-FFF2-40B4-BE49-F238E27FC236}">
                <a16:creationId xmlns:a16="http://schemas.microsoft.com/office/drawing/2014/main" id="{7594BD20-08F3-4EA3-3072-665263E430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3622" y="2645703"/>
            <a:ext cx="6009292" cy="205022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901FE1F-6DCF-12F2-EC61-8FA616BAFB7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8065"/>
          <a:stretch>
            <a:fillRect/>
          </a:stretch>
        </p:blipFill>
        <p:spPr>
          <a:xfrm>
            <a:off x="699086" y="2526339"/>
            <a:ext cx="4635076" cy="22889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52121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2D7981-DD65-B480-17CF-9BBAC67546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>
            <a:normAutofit/>
          </a:bodyPr>
          <a:lstStyle/>
          <a:p>
            <a:r>
              <a:rPr lang="pt-PT" noProof="0">
                <a:solidFill>
                  <a:srgbClr val="262626"/>
                </a:solidFill>
              </a:rPr>
              <a:t>Propostas de Modelos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245113-9994-6960-68C9-5A5F27399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58922" y="6217920"/>
            <a:ext cx="365760" cy="36576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8A7A6979-0714-4377-B894-6BE4C2D6E202}" type="slidenum">
              <a:rPr lang="pt-PT" noProof="0" smtClean="0"/>
              <a:pPr>
                <a:lnSpc>
                  <a:spcPct val="90000"/>
                </a:lnSpc>
                <a:spcAft>
                  <a:spcPts val="600"/>
                </a:spcAft>
              </a:pPr>
              <a:t>7</a:t>
            </a:fld>
            <a:endParaRPr lang="pt-PT" noProof="0"/>
          </a:p>
        </p:txBody>
      </p:sp>
      <p:graphicFrame>
        <p:nvGraphicFramePr>
          <p:cNvPr id="6" name="Content Placeholder 2">
            <a:extLst>
              <a:ext uri="{FF2B5EF4-FFF2-40B4-BE49-F238E27FC236}">
                <a16:creationId xmlns:a16="http://schemas.microsoft.com/office/drawing/2014/main" id="{846241CE-09F1-B675-01E9-E6C4749A6DE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97413283"/>
              </p:ext>
            </p:extLst>
          </p:nvPr>
        </p:nvGraphicFramePr>
        <p:xfrm>
          <a:off x="965201" y="2638425"/>
          <a:ext cx="10261600" cy="31019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393394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5AFC29-B0E3-0930-5589-044846679C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964692"/>
            <a:ext cx="4476806" cy="1188720"/>
          </a:xfrm>
        </p:spPr>
        <p:txBody>
          <a:bodyPr>
            <a:normAutofit/>
          </a:bodyPr>
          <a:lstStyle/>
          <a:p>
            <a:r>
              <a:rPr lang="en-PT"/>
              <a:t>SARIMA</a:t>
            </a:r>
            <a:endParaRPr lang="en-P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E1C6318B-BD13-74F7-D119-1FBFDBC76F4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04672" y="2638044"/>
                <a:ext cx="5106493" cy="326320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pt-PT" dirty="0"/>
                  <a:t>3 modelos, tendo em conta:</a:t>
                </a:r>
              </a:p>
              <a:p>
                <a:r>
                  <a:rPr lang="pt-PT" dirty="0"/>
                  <a:t>Análise ACF e PACF</a:t>
                </a:r>
              </a:p>
              <a:p>
                <a:pPr lvl="1"/>
                <a:r>
                  <a:rPr lang="pt-PT" dirty="0"/>
                  <a:t>SARIMA(1,1,1)(1,1,1)[12]</a:t>
                </a:r>
              </a:p>
              <a:p>
                <a:r>
                  <a:rPr lang="pt-PT" dirty="0"/>
                  <a:t>Análise sistemática, critério </a:t>
                </a:r>
                <a:r>
                  <a:rPr lang="pt-PT" dirty="0" err="1"/>
                  <a:t>AICc</a:t>
                </a:r>
                <a:endParaRPr lang="pt-PT" dirty="0"/>
              </a:p>
              <a:p>
                <a:pPr lvl="1"/>
                <a:r>
                  <a:rPr lang="pt-PT" dirty="0"/>
                  <a:t>SARIMA(2,0,2)(2,1,0)[12]</a:t>
                </a:r>
              </a:p>
              <a:p>
                <a:r>
                  <a:rPr lang="pt-PT" dirty="0"/>
                  <a:t>Análise sistemática, critério </a:t>
                </a:r>
                <a:r>
                  <a:rPr lang="pt-PT" dirty="0" err="1"/>
                  <a:t>AICc</a:t>
                </a:r>
                <a:r>
                  <a:rPr lang="pt-PT" dirty="0"/>
                  <a:t>, com </a:t>
                </a:r>
                <a14:m>
                  <m:oMath xmlns:m="http://schemas.openxmlformats.org/officeDocument/2006/math">
                    <m:r>
                      <a:rPr lang="pt-PT" i="1">
                        <a:latin typeface="Cambria Math" panose="02040503050406030204" pitchFamily="18" charset="0"/>
                      </a:rPr>
                      <m:t>𝑑</m:t>
                    </m:r>
                    <m:r>
                      <a:rPr lang="pt-PT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PT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pt-PT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</m:t>
                    </m:r>
                  </m:oMath>
                </a14:m>
                <a:endParaRPr lang="pt-PT" dirty="0"/>
              </a:p>
              <a:p>
                <a:pPr lvl="1"/>
                <a:r>
                  <a:rPr lang="pt-PT" dirty="0"/>
                  <a:t>SARIMA(0,1,2)(3,1,0)[12]</a:t>
                </a:r>
              </a:p>
            </p:txBody>
          </p:sp>
        </mc:Choice>
        <mc:Fallback xmlns="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E1C6318B-BD13-74F7-D119-1FBFDBC76F4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04672" y="2638044"/>
                <a:ext cx="5106493" cy="3263206"/>
              </a:xfrm>
              <a:blipFill>
                <a:blip r:embed="rId2"/>
                <a:stretch>
                  <a:fillRect l="-993" t="-775"/>
                </a:stretch>
              </a:blipFill>
            </p:spPr>
            <p:txBody>
              <a:bodyPr/>
              <a:lstStyle/>
              <a:p>
                <a:r>
                  <a:rPr lang="en-P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Rectangle 25">
            <a:extLst>
              <a:ext uri="{FF2B5EF4-FFF2-40B4-BE49-F238E27FC236}">
                <a16:creationId xmlns:a16="http://schemas.microsoft.com/office/drawing/2014/main" id="{CCB44D6C-A194-4C92-A608-1AA2CC5992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43605" y="964692"/>
            <a:ext cx="5440680" cy="4936558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65762A7-CE84-40FE-9B97-D3C158A311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110699" y="1128683"/>
            <a:ext cx="5106493" cy="4608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5" descr="A black background with blue lines&#10;&#10;AI-generated content may be incorrect.">
            <a:extLst>
              <a:ext uri="{FF2B5EF4-FFF2-40B4-BE49-F238E27FC236}">
                <a16:creationId xmlns:a16="http://schemas.microsoft.com/office/drawing/2014/main" id="{A5AC8984-9794-ADBC-8E6F-3318E37D53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2789" y="1382555"/>
            <a:ext cx="4782312" cy="4100831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87A1E7-05E5-4465-5609-73AF755965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58922" y="6217920"/>
            <a:ext cx="365760" cy="36576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8A7A6979-0714-4377-B894-6BE4C2D6E202}" type="slidenum">
              <a:rPr lang="en-US" smtClean="0"/>
              <a:pPr>
                <a:lnSpc>
                  <a:spcPct val="90000"/>
                </a:lnSpc>
                <a:spcAft>
                  <a:spcPts val="600"/>
                </a:spcAft>
              </a:pPr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37206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805735-2BE1-48A4-C705-826ADDAA3E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2677" y="964692"/>
            <a:ext cx="3066937" cy="1188720"/>
          </a:xfrm>
        </p:spPr>
        <p:txBody>
          <a:bodyPr>
            <a:normAutofit/>
          </a:bodyPr>
          <a:lstStyle/>
          <a:p>
            <a:r>
              <a:rPr lang="pt-PT" noProof="0" dirty="0" err="1"/>
              <a:t>Sarima</a:t>
            </a:r>
            <a:endParaRPr lang="pt-PT" noProof="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358FD32-AA91-47A4-9758-8C172B3066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4795" y="964692"/>
            <a:ext cx="6885432" cy="4936558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6B5B18B-0170-4F1B-BF40-89BD5772C0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78415" y="1128683"/>
            <a:ext cx="6558192" cy="4608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A colorful lines on a black background&#10;&#10;AI-generated content may be incorrect.">
            <a:extLst>
              <a:ext uri="{FF2B5EF4-FFF2-40B4-BE49-F238E27FC236}">
                <a16:creationId xmlns:a16="http://schemas.microsoft.com/office/drawing/2014/main" id="{846E8B81-F480-C66E-A012-F7CF423B6D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4928" y="1293275"/>
            <a:ext cx="5985165" cy="4279392"/>
          </a:xfrm>
          <a:prstGeom prst="rect">
            <a:avLst/>
          </a:prstGeom>
        </p:spPr>
      </p:pic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B3E89611-D7A2-21B7-9A84-681EDCC1D2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52008" y="2638044"/>
            <a:ext cx="3388274" cy="3263206"/>
          </a:xfrm>
        </p:spPr>
        <p:txBody>
          <a:bodyPr>
            <a:normAutofit/>
          </a:bodyPr>
          <a:lstStyle/>
          <a:p>
            <a:r>
              <a:rPr lang="pt-PT" noProof="0" dirty="0"/>
              <a:t>Apesar dos modelos parecerem ajustar-se bem aos dados de treino, todos os testes de </a:t>
            </a:r>
            <a:r>
              <a:rPr lang="pt-PT" noProof="0" dirty="0" err="1"/>
              <a:t>Ljung</a:t>
            </a:r>
            <a:r>
              <a:rPr lang="pt-PT" noProof="0" dirty="0"/>
              <a:t>-Box revelaram </a:t>
            </a:r>
            <a:r>
              <a:rPr lang="pt-PT" noProof="0" dirty="0" err="1"/>
              <a:t>autocorrelação</a:t>
            </a:r>
            <a:r>
              <a:rPr lang="pt-PT" noProof="0" dirty="0"/>
              <a:t> significativa nos resíduos</a:t>
            </a:r>
          </a:p>
          <a:p>
            <a:r>
              <a:rPr lang="pt-PT" dirty="0"/>
              <a:t>Outras variantes foram testadas, mas apresentaram desempenhos ainda inferiores</a:t>
            </a:r>
            <a:endParaRPr lang="pt-PT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31EAF6-7345-2971-7D85-A8C9BEB55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58922" y="6217920"/>
            <a:ext cx="365760" cy="36576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8A7A6979-0714-4377-B894-6BE4C2D6E202}" type="slidenum">
              <a:rPr lang="pt-PT" noProof="0" smtClean="0"/>
              <a:pPr>
                <a:lnSpc>
                  <a:spcPct val="90000"/>
                </a:lnSpc>
                <a:spcAft>
                  <a:spcPts val="600"/>
                </a:spcAft>
              </a:pPr>
              <a:t>9</a:t>
            </a:fld>
            <a:endParaRPr lang="pt-PT" noProof="0"/>
          </a:p>
        </p:txBody>
      </p:sp>
    </p:spTree>
    <p:extLst>
      <p:ext uri="{BB962C8B-B14F-4D97-AF65-F5344CB8AC3E}">
        <p14:creationId xmlns:p14="http://schemas.microsoft.com/office/powerpoint/2010/main" val="32233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0FE30C-D869-6519-ECD6-847A79DBE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EF8CF65-17E8-548D-738F-FBF4920C4C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1874" y="3501950"/>
            <a:ext cx="5129725" cy="1466386"/>
          </a:xfrm>
          <a:prstGeom prst="rect">
            <a:avLst/>
          </a:prstGeom>
        </p:spPr>
      </p:pic>
      <p:pic>
        <p:nvPicPr>
          <p:cNvPr id="3" name="Content Placeholder 5">
            <a:extLst>
              <a:ext uri="{FF2B5EF4-FFF2-40B4-BE49-F238E27FC236}">
                <a16:creationId xmlns:a16="http://schemas.microsoft.com/office/drawing/2014/main" id="{39388CB6-6E56-CB26-F553-3FDBE54AB8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7096" y="2405603"/>
            <a:ext cx="4227270" cy="362337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D725598-BD9A-F89A-CD52-52645638C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T" dirty="0"/>
              <a:t>SARIMA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FC4064-3E39-99FC-ABA2-132E4EE6F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37079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35FA8C-776C-5086-2DE0-22CC9AD5E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57B01706-F927-1ED0-6B4B-9148311060FB}"/>
              </a:ext>
            </a:extLst>
          </p:cNvPr>
          <p:cNvGrpSpPr/>
          <p:nvPr/>
        </p:nvGrpSpPr>
        <p:grpSpPr>
          <a:xfrm>
            <a:off x="6246213" y="2946197"/>
            <a:ext cx="5279828" cy="2402061"/>
            <a:chOff x="6246213" y="2946197"/>
            <a:chExt cx="5279828" cy="2402061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5C1978B-6ADE-B641-2098-3999B5C3973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246213" y="4126756"/>
              <a:ext cx="5279828" cy="1221502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95E872FB-25F8-2ACB-A71C-23706D9A344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80333" y="2946197"/>
              <a:ext cx="3726573" cy="1009645"/>
            </a:xfrm>
            <a:prstGeom prst="rect">
              <a:avLst/>
            </a:prstGeom>
          </p:spPr>
        </p:pic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E04D1E0C-94DF-31CF-7A79-075FC4B0B4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413" y="2499984"/>
            <a:ext cx="5837002" cy="333543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E930C45-B557-0DB4-F88B-157EA2A810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T" dirty="0"/>
              <a:t>SARIMA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7B3E28-B2DC-F2A2-5B49-ED32EA2372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07339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3141A8-0DB4-E7D9-F886-81E2251E7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2677" y="964692"/>
            <a:ext cx="3066937" cy="1188720"/>
          </a:xfrm>
        </p:spPr>
        <p:txBody>
          <a:bodyPr>
            <a:normAutofit/>
          </a:bodyPr>
          <a:lstStyle/>
          <a:p>
            <a:r>
              <a:rPr lang="en-PT" dirty="0"/>
              <a:t>SARIMA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358FD32-AA91-47A4-9758-8C172B3066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4795" y="964692"/>
            <a:ext cx="6885432" cy="4936558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6B5B18B-0170-4F1B-BF40-89BD5772C0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78415" y="1128683"/>
            <a:ext cx="6558192" cy="4608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6D392E-9AFF-7644-9D33-41B64009335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11249" y="2638044"/>
                <a:ext cx="3063765" cy="326320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A</a:t>
                </a:r>
                <a:r>
                  <a:rPr lang="en-PT" dirty="0"/>
                  <a:t>pesar de:</a:t>
                </a:r>
              </a:p>
              <a:p>
                <a:r>
                  <a:rPr lang="en-GB" dirty="0"/>
                  <a:t>I</a:t>
                </a:r>
                <a:r>
                  <a:rPr lang="en-PT" dirty="0"/>
                  <a:t>nsiginificância de </a:t>
                </a:r>
                <a14:m>
                  <m:oMath xmlns:m="http://schemas.openxmlformats.org/officeDocument/2006/math">
                    <m:r>
                      <a:rPr lang="pt-PT" b="0" i="1" smtClean="0">
                        <a:latin typeface="Cambria Math" panose="02040503050406030204" pitchFamily="18" charset="0"/>
                      </a:rPr>
                      <m:t>𝑠𝑎𝑟</m:t>
                    </m:r>
                    <m:r>
                      <a:rPr lang="pt-PT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PT" dirty="0"/>
              </a:p>
              <a:p>
                <a:r>
                  <a:rPr lang="en-PT" dirty="0"/>
                  <a:t>Correlação </a:t>
                </a:r>
                <a14:m>
                  <m:oMath xmlns:m="http://schemas.openxmlformats.org/officeDocument/2006/math">
                    <m:r>
                      <a:rPr lang="pt-PT" b="0" i="1" smtClean="0">
                        <a:latin typeface="Cambria Math" panose="02040503050406030204" pitchFamily="18" charset="0"/>
                      </a:rPr>
                      <m:t>𝑚𝑎</m:t>
                    </m:r>
                    <m:r>
                      <a:rPr lang="pt-PT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PT" dirty="0"/>
                  <a:t> e </a:t>
                </a:r>
                <a14:m>
                  <m:oMath xmlns:m="http://schemas.openxmlformats.org/officeDocument/2006/math">
                    <m:r>
                      <a:rPr lang="pt-PT" b="0" i="1" smtClean="0">
                        <a:latin typeface="Cambria Math" panose="02040503050406030204" pitchFamily="18" charset="0"/>
                      </a:rPr>
                      <m:t>𝑎𝑟</m:t>
                    </m:r>
                    <m:r>
                      <a:rPr lang="pt-PT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PT" dirty="0"/>
              </a:p>
              <a:p>
                <a:pPr marL="0" indent="0">
                  <a:buNone/>
                </a:pPr>
                <a:r>
                  <a:rPr lang="en-PT" dirty="0"/>
                  <a:t>Foi mantida a estrutura completa do modelo, dado ser o compromisso mais aceitável entre qualidade do ajustamento, simplicidade estrutural e cumprimento dos pressupostos essenciais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6D392E-9AFF-7644-9D33-41B64009335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11249" y="2638044"/>
                <a:ext cx="3063765" cy="3263206"/>
              </a:xfrm>
              <a:blipFill>
                <a:blip r:embed="rId2"/>
                <a:stretch>
                  <a:fillRect l="-1653" t="-775" r="-1653" b="-1550"/>
                </a:stretch>
              </a:blipFill>
            </p:spPr>
            <p:txBody>
              <a:bodyPr/>
              <a:lstStyle/>
              <a:p>
                <a:r>
                  <a:rPr lang="en-P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B868DD-1E73-FF4A-9C3E-1729F97D7F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58922" y="6217920"/>
            <a:ext cx="365760" cy="36576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8A7A6979-0714-4377-B894-6BE4C2D6E202}" type="slidenum">
              <a:rPr lang="en-US" smtClean="0"/>
              <a:pPr>
                <a:lnSpc>
                  <a:spcPct val="90000"/>
                </a:lnSpc>
                <a:spcAft>
                  <a:spcPts val="600"/>
                </a:spcAft>
              </a:pPr>
              <a:t>12</a:t>
            </a:fld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A92DFB50-9A33-6A35-2E86-1BEBA0F3F18F}"/>
              </a:ext>
            </a:extLst>
          </p:cNvPr>
          <p:cNvGrpSpPr/>
          <p:nvPr/>
        </p:nvGrpSpPr>
        <p:grpSpPr>
          <a:xfrm>
            <a:off x="1128988" y="1482894"/>
            <a:ext cx="6189369" cy="3873400"/>
            <a:chOff x="1128988" y="1432094"/>
            <a:chExt cx="6189369" cy="3873400"/>
          </a:xfrm>
        </p:grpSpPr>
        <p:pic>
          <p:nvPicPr>
            <p:cNvPr id="6" name="Picture 5" descr="A screenshot of a computer code&#10;&#10;AI-generated content may be incorrect.">
              <a:extLst>
                <a:ext uri="{FF2B5EF4-FFF2-40B4-BE49-F238E27FC236}">
                  <a16:creationId xmlns:a16="http://schemas.microsoft.com/office/drawing/2014/main" id="{F6ABCF32-FBB9-74D1-B448-AD8BC303F36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28988" y="1432094"/>
              <a:ext cx="5243261" cy="2411899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E9EE11D9-767A-522D-AEE6-336E7E8E8B6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170028" y="4000617"/>
              <a:ext cx="6148329" cy="130487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9287880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7B9394-E25A-434B-1ED4-8B1E5300B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noProof="0" dirty="0" err="1"/>
              <a:t>garch</a:t>
            </a:r>
            <a:endParaRPr lang="pt-PT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4EC6C3-D577-5969-AB40-78BE170549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PT" noProof="0" dirty="0"/>
              <a:t>Ajustado o modelo SARIMA, foi verificada a presença de efeitos ARCH nos resíduos do modelo</a:t>
            </a:r>
          </a:p>
          <a:p>
            <a:endParaRPr lang="pt-PT" dirty="0"/>
          </a:p>
          <a:p>
            <a:endParaRPr lang="pt-PT" noProof="0" dirty="0"/>
          </a:p>
          <a:p>
            <a:endParaRPr lang="pt-PT" dirty="0"/>
          </a:p>
          <a:p>
            <a:endParaRPr lang="pt-PT" noProof="0" dirty="0"/>
          </a:p>
          <a:p>
            <a:r>
              <a:rPr lang="pt-PT" dirty="0"/>
              <a:t>Não faz sentido ajustar um modelo GARCH</a:t>
            </a:r>
            <a:endParaRPr lang="pt-PT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4D62B4-F2AE-EDF1-963C-9A95B9BC0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pt-PT" noProof="0" smtClean="0"/>
              <a:pPr/>
              <a:t>13</a:t>
            </a:fld>
            <a:endParaRPr lang="pt-PT" noProof="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CA97238-B52D-F7D5-162D-4F22F6D9CB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2706" y="3429000"/>
            <a:ext cx="6566587" cy="12675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51514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04328A-0591-5332-0B4C-714854BD99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38928" y="964692"/>
            <a:ext cx="6092952" cy="1188720"/>
          </a:xfrm>
        </p:spPr>
        <p:txBody>
          <a:bodyPr>
            <a:normAutofit/>
          </a:bodyPr>
          <a:lstStyle/>
          <a:p>
            <a:r>
              <a:rPr lang="en-PT" dirty="0"/>
              <a:t>ETS</a:t>
            </a:r>
          </a:p>
        </p:txBody>
      </p:sp>
      <p:pic>
        <p:nvPicPr>
          <p:cNvPr id="5" name="Content Placeholder 5">
            <a:extLst>
              <a:ext uri="{FF2B5EF4-FFF2-40B4-BE49-F238E27FC236}">
                <a16:creationId xmlns:a16="http://schemas.microsoft.com/office/drawing/2014/main" id="{C5646256-9218-9AA7-6EAF-6C94C82463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442" y="905313"/>
            <a:ext cx="4002059" cy="3431765"/>
          </a:xfrm>
          <a:prstGeom prst="rect">
            <a:avLst/>
          </a:prstGeom>
          <a:ln w="31750" cap="sq">
            <a:solidFill>
              <a:srgbClr val="FFFFFF"/>
            </a:solidFill>
            <a:miter lim="800000"/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F69E90B-9F2C-3485-FDDC-33BF3CBC16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442" y="4625586"/>
            <a:ext cx="4002059" cy="1240637"/>
          </a:xfrm>
          <a:prstGeom prst="rect">
            <a:avLst/>
          </a:prstGeom>
          <a:ln w="31750" cap="sq">
            <a:noFill/>
            <a:miter lim="800000"/>
          </a:ln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A13103-2EA9-A0C1-BC1E-3B854FAB6C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9646" y="2475145"/>
            <a:ext cx="6142233" cy="3409259"/>
          </a:xfrm>
        </p:spPr>
        <p:txBody>
          <a:bodyPr>
            <a:normAutofit/>
          </a:bodyPr>
          <a:lstStyle/>
          <a:p>
            <a:r>
              <a:rPr lang="pt-PT" noProof="0" dirty="0"/>
              <a:t>Ajuste do modelo com o critério </a:t>
            </a:r>
            <a:r>
              <a:rPr lang="pt-PT" noProof="0" dirty="0" err="1"/>
              <a:t>AICc</a:t>
            </a:r>
            <a:endParaRPr lang="pt-PT" noProof="0" dirty="0"/>
          </a:p>
          <a:p>
            <a:pPr lvl="1"/>
            <a:r>
              <a:rPr lang="pt-PT" noProof="0" dirty="0"/>
              <a:t>ETS(M,N,A)</a:t>
            </a:r>
          </a:p>
          <a:p>
            <a:pPr marL="0" indent="0">
              <a:buNone/>
            </a:pPr>
            <a:endParaRPr lang="pt-PT" noProof="0" dirty="0"/>
          </a:p>
          <a:p>
            <a:r>
              <a:rPr lang="pt-PT" noProof="0" dirty="0"/>
              <a:t>A elevada </a:t>
            </a:r>
            <a:r>
              <a:rPr lang="pt-PT" noProof="0" dirty="0" err="1"/>
              <a:t>autocorrelação</a:t>
            </a:r>
            <a:r>
              <a:rPr lang="pt-PT" noProof="0" dirty="0"/>
              <a:t> dos resíduos levou à rejeição de modelos desta família como adequados para representar a série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8F490C-F401-03B9-F6F8-B79E64F5A3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58922" y="6217920"/>
            <a:ext cx="365760" cy="36576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8A7A6979-0714-4377-B894-6BE4C2D6E202}" type="slidenum">
              <a:rPr lang="en-US" smtClean="0"/>
              <a:pPr>
                <a:lnSpc>
                  <a:spcPct val="90000"/>
                </a:lnSpc>
                <a:spcAft>
                  <a:spcPts val="600"/>
                </a:spcAft>
              </a:pPr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56184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115478-B086-7D39-DB9D-F07013A61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964692"/>
            <a:ext cx="3066937" cy="1188720"/>
          </a:xfrm>
        </p:spPr>
        <p:txBody>
          <a:bodyPr vert="horz" lIns="274320" tIns="182880" rIns="274320" bIns="182880" rtlCol="0" anchorCtr="1">
            <a:normAutofit/>
          </a:bodyPr>
          <a:lstStyle/>
          <a:p>
            <a:r>
              <a:rPr lang="en-US"/>
              <a:t>STLM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327D26-93CF-95AD-ED2E-73FEC02EB3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3244" y="2638044"/>
            <a:ext cx="3063765" cy="3263206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pt-PT" noProof="0" dirty="0"/>
              <a:t>Decomposição STL com ARIMA ajustado aos resíduos </a:t>
            </a:r>
            <a:r>
              <a:rPr lang="pt-PT" noProof="0" dirty="0" err="1"/>
              <a:t>dessazonalizados</a:t>
            </a:r>
            <a:endParaRPr lang="pt-PT" noProof="0" dirty="0"/>
          </a:p>
          <a:p>
            <a:pPr lvl="1"/>
            <a:r>
              <a:rPr lang="pt-PT" dirty="0"/>
              <a:t>STLM(ARIMA)</a:t>
            </a:r>
            <a:endParaRPr lang="pt-PT" noProof="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BBEBD03-E4CE-4B72-8DF2-6E737BDDFB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94182" y="964692"/>
            <a:ext cx="6885432" cy="4936558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7221359-7E5B-428B-8817-A7C5104279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57802" y="1128683"/>
            <a:ext cx="6558192" cy="4608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5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5AE6B14A-9E86-EC0A-8BD5-3471672CCE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1625" y="1293275"/>
            <a:ext cx="4990545" cy="4279392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006D1B-82D2-4C67-544A-C1D21D5F0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58922" y="6217920"/>
            <a:ext cx="365760" cy="365760"/>
          </a:xfrm>
        </p:spPr>
        <p:txBody>
          <a:bodyPr vert="horz" lIns="18288" tIns="45720" rIns="18288" bIns="45720" rtlCol="0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8A7A6979-0714-4377-B894-6BE4C2D6E202}" type="slidenum">
              <a:rPr lang="en-US" smtClean="0"/>
              <a:pPr>
                <a:lnSpc>
                  <a:spcPct val="90000"/>
                </a:lnSpc>
                <a:spcAft>
                  <a:spcPts val="600"/>
                </a:spcAft>
              </a:pPr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6954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5BFE6-B2E8-7204-6120-6E74597524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T" dirty="0"/>
              <a:t>STLM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D27BAA-10C7-D696-208B-2A8D3816E4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16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430490B-0AC2-4D3B-6592-278A371A4B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9606" y="2405603"/>
            <a:ext cx="4227269" cy="362337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6740AED-61DD-28EB-E11C-23FBB962C8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9727" y="3492011"/>
            <a:ext cx="4391654" cy="1450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59666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DCCB78-1DC0-BAD4-765D-3ED85C3D48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T"/>
              <a:t>STLM</a:t>
            </a:r>
            <a:endParaRPr lang="en-P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230761-8F78-BBFE-5089-128621FEEE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17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ED4D58-2770-D0A6-319A-62D9B03062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413" y="2499984"/>
            <a:ext cx="5837004" cy="3335430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84E8B6DC-5927-443A-45EE-539D5672A01D}"/>
              </a:ext>
            </a:extLst>
          </p:cNvPr>
          <p:cNvGrpSpPr/>
          <p:nvPr/>
        </p:nvGrpSpPr>
        <p:grpSpPr>
          <a:xfrm>
            <a:off x="6295738" y="2946197"/>
            <a:ext cx="5287207" cy="2443004"/>
            <a:chOff x="6096000" y="2896620"/>
            <a:chExt cx="5287207" cy="2443004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B8AC5915-5FD5-9524-E093-4675D528BA5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096000" y="2896620"/>
              <a:ext cx="3567415" cy="1009645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CA9E028D-73E4-2754-CF84-E80876F498A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096000" y="4069553"/>
              <a:ext cx="5287207" cy="127007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582496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21E3D8-72F6-E132-CC76-E4FD31D5CD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noProof="0" dirty="0"/>
              <a:t>Previsão de Observações Futuras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1EFA2D-0BB0-7288-0A6D-C3AE8DE2AB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pt-PT" noProof="0" smtClean="0"/>
              <a:pPr/>
              <a:t>18</a:t>
            </a:fld>
            <a:endParaRPr lang="pt-PT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CE233F7-DC0C-2B15-93FB-C5FD2C6057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0861" y="2666576"/>
            <a:ext cx="5163293" cy="2950453"/>
          </a:xfrm>
          <a:prstGeom prst="rect">
            <a:avLst/>
          </a:prstGeom>
        </p:spPr>
      </p:pic>
      <p:pic>
        <p:nvPicPr>
          <p:cNvPr id="7" name="Content Placeholder 5">
            <a:extLst>
              <a:ext uri="{FF2B5EF4-FFF2-40B4-BE49-F238E27FC236}">
                <a16:creationId xmlns:a16="http://schemas.microsoft.com/office/drawing/2014/main" id="{06F45EE2-1F77-AEF7-C186-B7EA3D0DCF2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37846" y="2666576"/>
            <a:ext cx="5163294" cy="2950454"/>
          </a:xfrm>
        </p:spPr>
      </p:pic>
    </p:spTree>
    <p:extLst>
      <p:ext uri="{BB962C8B-B14F-4D97-AF65-F5344CB8AC3E}">
        <p14:creationId xmlns:p14="http://schemas.microsoft.com/office/powerpoint/2010/main" val="95228266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7FED4-5FFE-8D45-DE73-CE55FB9AC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noProof="0" dirty="0"/>
              <a:t>Previsão de Observações Futuras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EE87AD-9993-FAAF-D079-5E9AA0CCB4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pt-PT" noProof="0" smtClean="0"/>
              <a:pPr/>
              <a:t>19</a:t>
            </a:fld>
            <a:endParaRPr lang="pt-PT" noProof="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D05D86C-4C10-409D-A601-689E4107BB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402" y="2808513"/>
            <a:ext cx="10129196" cy="2638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82834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B27C9A-F383-59C2-179C-D2F24630AA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964692"/>
            <a:ext cx="3066937" cy="1188720"/>
          </a:xfrm>
        </p:spPr>
        <p:txBody>
          <a:bodyPr>
            <a:normAutofit/>
          </a:bodyPr>
          <a:lstStyle/>
          <a:p>
            <a:r>
              <a:rPr lang="pt-PT" sz="2000" noProof="0"/>
              <a:t>Previsão de Observações Futuras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971BBE-7F5D-87F1-A17B-B3577935C0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3244" y="2638044"/>
            <a:ext cx="3063765" cy="3263206"/>
          </a:xfrm>
        </p:spPr>
        <p:txBody>
          <a:bodyPr>
            <a:normAutofit/>
          </a:bodyPr>
          <a:lstStyle/>
          <a:p>
            <a:r>
              <a:rPr lang="pt-PT" noProof="0" dirty="0"/>
              <a:t>Ambos os modelos com cobertura total</a:t>
            </a:r>
          </a:p>
          <a:p>
            <a:endParaRPr lang="pt-PT" noProof="0" dirty="0"/>
          </a:p>
          <a:p>
            <a:r>
              <a:rPr lang="pt-PT" noProof="0" dirty="0"/>
              <a:t>Amplitude média:</a:t>
            </a:r>
          </a:p>
          <a:p>
            <a:pPr lvl="1"/>
            <a:r>
              <a:rPr lang="pt-PT" noProof="0" dirty="0"/>
              <a:t>SARIMA: 4378</a:t>
            </a:r>
          </a:p>
          <a:p>
            <a:pPr lvl="1"/>
            <a:r>
              <a:rPr lang="pt-PT" noProof="0" dirty="0"/>
              <a:t>STLM: 3639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BEBD03-E4CE-4B72-8DF2-6E737BDDFB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94182" y="964692"/>
            <a:ext cx="6885432" cy="4936558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7221359-7E5B-428B-8817-A7C5104279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57802" y="1128683"/>
            <a:ext cx="6558192" cy="4608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graph with lines and numbers&#10;&#10;AI-generated content may be incorrect.">
            <a:extLst>
              <a:ext uri="{FF2B5EF4-FFF2-40B4-BE49-F238E27FC236}">
                <a16:creationId xmlns:a16="http://schemas.microsoft.com/office/drawing/2014/main" id="{99D96E7C-4393-9311-C20A-78416316F7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3366" y="1650474"/>
            <a:ext cx="6227064" cy="3564993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B5527F-1452-64F9-1CDC-D1D11A0CC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58922" y="6217920"/>
            <a:ext cx="365760" cy="36576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8A7A6979-0714-4377-B894-6BE4C2D6E202}" type="slidenum">
              <a:rPr lang="pt-PT" noProof="0" smtClean="0"/>
              <a:pPr>
                <a:lnSpc>
                  <a:spcPct val="90000"/>
                </a:lnSpc>
                <a:spcAft>
                  <a:spcPts val="600"/>
                </a:spcAft>
              </a:pPr>
              <a:t>20</a:t>
            </a:fld>
            <a:endParaRPr lang="pt-PT" noProof="0"/>
          </a:p>
        </p:txBody>
      </p:sp>
    </p:spTree>
    <p:extLst>
      <p:ext uri="{BB962C8B-B14F-4D97-AF65-F5344CB8AC3E}">
        <p14:creationId xmlns:p14="http://schemas.microsoft.com/office/powerpoint/2010/main" val="22430933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EC584-3ED1-C3B9-0FEF-902374222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T" dirty="0"/>
              <a:t>Discussão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49CBB2-4E18-24B5-5AFA-96A39C21BD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97459" y="2651107"/>
            <a:ext cx="7997081" cy="3101983"/>
          </a:xfrm>
        </p:spPr>
        <p:txBody>
          <a:bodyPr/>
          <a:lstStyle/>
          <a:p>
            <a:pPr marL="0" indent="0">
              <a:buNone/>
            </a:pPr>
            <a:r>
              <a:rPr lang="pt-PT" b="1" noProof="0" dirty="0"/>
              <a:t>Modelo escolhido:</a:t>
            </a:r>
            <a:r>
              <a:rPr lang="pt-PT" noProof="0" dirty="0"/>
              <a:t> STLM(ARIMA)</a:t>
            </a:r>
          </a:p>
          <a:p>
            <a:endParaRPr lang="pt-PT" noProof="0" dirty="0"/>
          </a:p>
          <a:p>
            <a:r>
              <a:rPr lang="pt-PT" noProof="0" dirty="0"/>
              <a:t>Ambos os modelos apresentam desempenho preditivo equivalente</a:t>
            </a:r>
          </a:p>
          <a:p>
            <a:r>
              <a:rPr lang="pt-PT" noProof="0" dirty="0"/>
              <a:t>Apresenta intervalos de previsão mais estreitos com igual nível de cobertura</a:t>
            </a:r>
          </a:p>
          <a:p>
            <a:r>
              <a:rPr lang="pt-PT" noProof="0" dirty="0"/>
              <a:t>Resíduos com distribuição mais próxima da normalidade</a:t>
            </a:r>
          </a:p>
          <a:p>
            <a:r>
              <a:rPr lang="pt-PT" noProof="0" dirty="0"/>
              <a:t>Maior evidência de ausência de </a:t>
            </a:r>
            <a:r>
              <a:rPr lang="pt-PT" noProof="0" dirty="0" err="1"/>
              <a:t>autocorrelação</a:t>
            </a:r>
            <a:r>
              <a:rPr lang="pt-PT" noProof="0" dirty="0"/>
              <a:t> nos resíduos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C59772-13FA-8005-31C4-BD758DF048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1147317"/>
      </p:ext>
    </p:extLst>
  </p:cSld>
  <p:clrMapOvr>
    <a:masterClrMapping/>
  </p:clrMapOvr>
</p:sld>
</file>

<file path=ppt/theme/theme1.xml><?xml version="1.0" encoding="utf-8"?>
<a:theme xmlns:a="http://schemas.openxmlformats.org/drawingml/2006/main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71C241A9-A460-4AD1-916F-25308628A5B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459</TotalTime>
  <Words>444</Words>
  <Application>Microsoft Macintosh PowerPoint</Application>
  <PresentationFormat>Widescreen</PresentationFormat>
  <Paragraphs>110</Paragraphs>
  <Slides>21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Aptos</vt:lpstr>
      <vt:lpstr>Arial</vt:lpstr>
      <vt:lpstr>Cambria Math</vt:lpstr>
      <vt:lpstr>Gill Sans MT</vt:lpstr>
      <vt:lpstr>Parcel</vt:lpstr>
      <vt:lpstr>Modelação e Previsão do Consumo Mensal de Eletricidade em Espanha</vt:lpstr>
      <vt:lpstr>Enquadramento</vt:lpstr>
      <vt:lpstr>Análise Exploratória</vt:lpstr>
      <vt:lpstr>Estacionariedade</vt:lpstr>
      <vt:lpstr>Estacionariedade</vt:lpstr>
      <vt:lpstr>Estacionariedade</vt:lpstr>
      <vt:lpstr>Propostas de Modelos</vt:lpstr>
      <vt:lpstr>SARIMA</vt:lpstr>
      <vt:lpstr>Sarima</vt:lpstr>
      <vt:lpstr>SARIMA</vt:lpstr>
      <vt:lpstr>SARIMA</vt:lpstr>
      <vt:lpstr>SARIMA</vt:lpstr>
      <vt:lpstr>garch</vt:lpstr>
      <vt:lpstr>ETS</vt:lpstr>
      <vt:lpstr>STLM</vt:lpstr>
      <vt:lpstr>STLM</vt:lpstr>
      <vt:lpstr>STLM</vt:lpstr>
      <vt:lpstr>Previsão de Observações Futuras</vt:lpstr>
      <vt:lpstr>Previsão de Observações Futuras</vt:lpstr>
      <vt:lpstr>Previsão de Observações Futuras</vt:lpstr>
      <vt:lpstr>Discussão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Hugo C. Veríssimo</dc:creator>
  <cp:lastModifiedBy>Hugo C. Veríssimo</cp:lastModifiedBy>
  <cp:revision>108</cp:revision>
  <dcterms:created xsi:type="dcterms:W3CDTF">2025-06-05T16:34:41Z</dcterms:created>
  <dcterms:modified xsi:type="dcterms:W3CDTF">2025-06-11T13:55:43Z</dcterms:modified>
</cp:coreProperties>
</file>