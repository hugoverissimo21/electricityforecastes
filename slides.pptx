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8" r:id="rId1"/>
  </p:sldMasterIdLst>
  <p:notesMasterIdLst>
    <p:notesMasterId r:id="rId22"/>
  </p:notesMasterIdLst>
  <p:sldIdLst>
    <p:sldId id="256" r:id="rId2"/>
    <p:sldId id="257" r:id="rId3"/>
    <p:sldId id="269" r:id="rId4"/>
    <p:sldId id="284" r:id="rId5"/>
    <p:sldId id="271" r:id="rId6"/>
    <p:sldId id="272" r:id="rId7"/>
    <p:sldId id="261" r:id="rId8"/>
    <p:sldId id="274" r:id="rId9"/>
    <p:sldId id="273" r:id="rId10"/>
    <p:sldId id="275" r:id="rId11"/>
    <p:sldId id="276" r:id="rId12"/>
    <p:sldId id="264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6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105"/>
    <p:restoredTop sz="94268"/>
  </p:normalViewPr>
  <p:slideViewPr>
    <p:cSldViewPr snapToGrid="0">
      <p:cViewPr>
        <p:scale>
          <a:sx n="94" d="100"/>
          <a:sy n="94" d="100"/>
        </p:scale>
        <p:origin x="728" y="720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EA34C-9AFF-2249-84E1-B124EBF18696}" type="datetimeFigureOut">
              <a:rPr lang="en-PT" smtClean="0"/>
              <a:t>10/06/2025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6933-0EE0-0045-9B90-D437E95F6CD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1219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26933-0EE0-0045-9B90-D437E95F6CD2}" type="slidenum">
              <a:rPr lang="en-PT" smtClean="0"/>
              <a:t>4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58016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1789D-7397-0746-936F-FCB6CAF06201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38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1E54-4010-5F41-84CF-866B4D0376CF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86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6AE9-091D-ED42-A71D-D8734B448316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804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45AE2-353B-DB4A-8156-9FBD00A5A056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D93A5-F0AA-E141-BE1C-D49DBFA49EA8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1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4D84E-9AFE-504A-8542-6872970C604D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9C2D1-D34F-D146-B405-1241C291F4C3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37B4C-699E-0047-A2F3-3BAF77E1D80C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98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ADFC25F-17A7-FB4A-ACDE-8081FA614CF0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1B379-C2BC-FC44-96DD-FCABC7F3A568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8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F1242-A42E-D349-AEE9-A0D9932A8217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57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91B09D2-E2B7-8A49-9CAD-1FE5553BC897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99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E8DE-3DDA-4765-0741-24A5D8CF76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PT" noProof="0" dirty="0"/>
              <a:t>Modelação e Previsão do Consumo Mensal de Eletricidade em Espanha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363CD-49EC-5C9C-B2D2-419361C80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noProof="0" dirty="0" err="1"/>
              <a:t>Apresentacao</a:t>
            </a:r>
            <a:r>
              <a:rPr lang="pt-PT" noProof="0" dirty="0"/>
              <a:t> com </a:t>
            </a:r>
            <a:r>
              <a:rPr lang="pt-PT" noProof="0" dirty="0" err="1"/>
              <a:t>max</a:t>
            </a:r>
            <a:r>
              <a:rPr lang="pt-PT" noProof="0" dirty="0"/>
              <a:t> de 10min</a:t>
            </a:r>
          </a:p>
          <a:p>
            <a:r>
              <a:rPr lang="pt-PT" noProof="0" dirty="0"/>
              <a:t>+ logo uni + autor</a:t>
            </a:r>
          </a:p>
        </p:txBody>
      </p:sp>
    </p:spTree>
    <p:extLst>
      <p:ext uri="{BB962C8B-B14F-4D97-AF65-F5344CB8AC3E}">
        <p14:creationId xmlns:p14="http://schemas.microsoft.com/office/powerpoint/2010/main" val="293016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614-9103-D3BC-BC7A-17E7791C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Enquadramento / Motivação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A0A52-3A37-BC18-0717-681311D8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D3AFF-C7D1-93C0-AFDB-AC5A50143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2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20775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8D0CC-ADD0-7AA2-B89A-A1592D8CE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964692"/>
            <a:ext cx="6092952" cy="1188720"/>
          </a:xfrm>
        </p:spPr>
        <p:txBody>
          <a:bodyPr>
            <a:normAutofit/>
          </a:bodyPr>
          <a:lstStyle/>
          <a:p>
            <a:r>
              <a:rPr lang="pt-PT" noProof="0"/>
              <a:t>Análise Exploratória dos Dados</a:t>
            </a:r>
          </a:p>
        </p:txBody>
      </p:sp>
      <p:pic>
        <p:nvPicPr>
          <p:cNvPr id="7" name="Picture 6" descr="A grid of white lines&#10;&#10;AI-generated content may be incorrect.">
            <a:extLst>
              <a:ext uri="{FF2B5EF4-FFF2-40B4-BE49-F238E27FC236}">
                <a16:creationId xmlns:a16="http://schemas.microsoft.com/office/drawing/2014/main" id="{20B6DD2C-B855-8E28-AE8D-5B5661A1F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883508"/>
            <a:ext cx="4007373" cy="2294220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8" name="Content Placeholder 5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BFFD6F35-0B53-F3C3-483E-5C1327B9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9" y="3680273"/>
            <a:ext cx="4007373" cy="2294220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3DBDC-37C7-EF80-01A4-FE42238D9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9646" y="2475145"/>
            <a:ext cx="6142233" cy="3409259"/>
          </a:xfrm>
        </p:spPr>
        <p:txBody>
          <a:bodyPr>
            <a:normAutofit/>
          </a:bodyPr>
          <a:lstStyle/>
          <a:p>
            <a:r>
              <a:rPr lang="pt-PT" noProof="0"/>
              <a:t>Consumo mensal de eletricidade (GWh) em Espanha (206 obs.)</a:t>
            </a:r>
          </a:p>
          <a:p>
            <a:r>
              <a:rPr lang="pt-PT" noProof="0"/>
              <a:t>Janeiro de 2008 a fevereiro de 2025</a:t>
            </a:r>
          </a:p>
          <a:p>
            <a:r>
              <a:rPr lang="pt-PT" noProof="0"/>
              <a:t>Separação em teste e treino (80/20)</a:t>
            </a:r>
          </a:p>
          <a:p>
            <a:endParaRPr lang="pt-PT" noProof="0"/>
          </a:p>
          <a:p>
            <a:r>
              <a:rPr lang="pt-PT" noProof="0"/>
              <a:t>Variância constante TALVEZ</a:t>
            </a:r>
          </a:p>
          <a:p>
            <a:r>
              <a:rPr lang="pt-PT" noProof="0"/>
              <a:t>Sazonalidade SIM</a:t>
            </a:r>
          </a:p>
          <a:p>
            <a:r>
              <a:rPr lang="pt-PT" noProof="0"/>
              <a:t>Tendência TALVEZ</a:t>
            </a:r>
          </a:p>
          <a:p>
            <a:pPr marL="0" indent="0">
              <a:buNone/>
            </a:pPr>
            <a:endParaRPr lang="pt-PT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22E4-D610-308F-EAB5-826D2A3E6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3414757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4667-22DB-00AF-BDD5-5BE374D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1807" y="964692"/>
            <a:ext cx="5894832" cy="1188720"/>
          </a:xfrm>
        </p:spPr>
        <p:txBody>
          <a:bodyPr>
            <a:normAutofit/>
          </a:bodyPr>
          <a:lstStyle/>
          <a:p>
            <a:r>
              <a:rPr lang="pt-PT" noProof="0" dirty="0" err="1"/>
              <a:t>Estacionariedade</a:t>
            </a:r>
            <a:endParaRPr lang="pt-PT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EEA9CC-FD23-4544-9417-FE9080DFB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315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C4C7DC-5B5A-4159-A1CF-D56CF640C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907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pic>
        <p:nvPicPr>
          <p:cNvPr id="7" name="Content Placeholder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B70F510-7317-F57B-6BAD-0ED01A90F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094" y="1293275"/>
            <a:ext cx="3327225" cy="42793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PT" noProof="0" dirty="0"/>
                  <a:t>Heterocedasticidade</a:t>
                </a:r>
              </a:p>
              <a:p>
                <a:pPr marL="0" indent="0" algn="ctr">
                  <a:buNone/>
                </a:pPr>
                <a:endParaRPr lang="pt-PT" sz="100" noProof="0" dirty="0"/>
              </a:p>
              <a:p>
                <a:r>
                  <a:rPr lang="pt-PT" noProof="0" dirty="0"/>
                  <a:t>Transformação Box-Cox</a:t>
                </a:r>
              </a:p>
              <a:p>
                <a:endParaRPr lang="pt-PT" sz="100" noProof="0" dirty="0"/>
              </a:p>
              <a:p>
                <a:r>
                  <a:rPr lang="pt-PT" noProof="0" dirty="0"/>
                  <a:t> </a:t>
                </a:r>
              </a:p>
              <a:p>
                <a:pPr lvl="1"/>
                <a:endParaRPr lang="pt-PT" noProof="0" dirty="0"/>
              </a:p>
              <a:p>
                <a:pPr lvl="1"/>
                <a:endParaRPr lang="pt-PT" noProof="0" dirty="0"/>
              </a:p>
              <a:p>
                <a:pPr marL="228600" lvl="1" indent="0">
                  <a:buNone/>
                </a:pPr>
                <a:r>
                  <a:rPr lang="pt-PT" noProof="0" dirty="0" err="1"/>
                  <a:t>Rej</a:t>
                </a:r>
                <a:r>
                  <a:rPr lang="pt-PT" noProof="0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PT" noProof="0" dirty="0"/>
                  <a:t>: Não há evidência de </a:t>
                </a:r>
                <a:r>
                  <a:rPr lang="pt-PT" noProof="0" dirty="0" err="1"/>
                  <a:t>heterocedasticidade</a:t>
                </a:r>
                <a:endParaRPr lang="pt-PT" noProof="0" dirty="0"/>
              </a:p>
              <a:p>
                <a:endParaRPr lang="pt-PT" sz="100" noProof="0" dirty="0"/>
              </a:p>
              <a:p>
                <a:r>
                  <a:rPr lang="pt-PT" noProof="0" dirty="0"/>
                  <a:t>Nenhuma transformação aplicada</a:t>
                </a:r>
              </a:p>
              <a:p>
                <a:endParaRPr lang="pt-PT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  <a:blipFill>
                <a:blip r:embed="rId4"/>
                <a:stretch>
                  <a:fillRect l="-637" t="-352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EAD16-73C2-CAFA-AA81-EB705E1CE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4</a:t>
            </a:fld>
            <a:endParaRPr lang="pt-PT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0B3B68-F02F-41FF-ACD4-1B57428312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72" y="3412223"/>
            <a:ext cx="4891216" cy="115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06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15AA-3161-96F6-D31C-0510F7EDE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Estacionariedade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F941-CDEA-91CA-8C4D-C19BFC3B1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54" y="2296521"/>
            <a:ext cx="7729728" cy="402611"/>
          </a:xfrm>
        </p:spPr>
        <p:txBody>
          <a:bodyPr/>
          <a:lstStyle/>
          <a:p>
            <a:r>
              <a:rPr lang="pt-PT" noProof="0" dirty="0"/>
              <a:t>Em termos de sazonalidade e tendência: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13FAAE-B77D-D4D1-1EFE-A354527B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5</a:t>
            </a:fld>
            <a:endParaRPr lang="pt-PT" noProof="0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886311BB-016B-BC49-7F9B-F1A0F0936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4" y="2922114"/>
            <a:ext cx="3618970" cy="3101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CFB73-040D-F801-3359-DE4ACD503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514" y="2922114"/>
            <a:ext cx="3618971" cy="31019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646554-9501-62CC-C243-5A559C4D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605" y="2928140"/>
            <a:ext cx="3611941" cy="30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9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8A76-762F-4B54-C047-3CE1AA809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Estacionariedade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3A18E-A61C-4CC5-A877-3160AF720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 err="1"/>
              <a:t>Dickey-Fuller</a:t>
            </a:r>
            <a:r>
              <a:rPr lang="pt-PT" noProof="0" dirty="0"/>
              <a:t> aumentado</a:t>
            </a:r>
          </a:p>
          <a:p>
            <a:r>
              <a:rPr lang="pt-PT" noProof="0" dirty="0"/>
              <a:t>KPSS</a:t>
            </a:r>
          </a:p>
          <a:p>
            <a:endParaRPr lang="pt-PT" noProof="0" dirty="0"/>
          </a:p>
          <a:p>
            <a:r>
              <a:rPr lang="pt-PT" noProof="0" dirty="0"/>
              <a:t>Ambos indicam que série original não é estacionária, mas a </a:t>
            </a:r>
            <a:r>
              <a:rPr lang="pt-PT" noProof="0" dirty="0" err="1"/>
              <a:t>difereniação</a:t>
            </a:r>
            <a:r>
              <a:rPr lang="pt-PT" noProof="0" dirty="0"/>
              <a:t> de ordem 1 e 12 </a:t>
            </a:r>
            <a:r>
              <a:rPr lang="pt-PT" noProof="0" dirty="0" err="1"/>
              <a:t>tornam-a</a:t>
            </a:r>
            <a:r>
              <a:rPr lang="pt-PT" noProof="0" dirty="0"/>
              <a:t> estacionária</a:t>
            </a:r>
          </a:p>
          <a:p>
            <a:r>
              <a:rPr lang="pt-PT" noProof="0" dirty="0"/>
              <a:t>(print output 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3342A-FA6A-95F8-378F-4F4CC78F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6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4059358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D7981-DD65-B480-17CF-9BBAC675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Propostas de Modelos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67C8D-DAFA-6632-8909-60AD0521B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 err="1"/>
              <a:t>Sarima</a:t>
            </a:r>
            <a:endParaRPr lang="pt-PT" noProof="0" dirty="0"/>
          </a:p>
          <a:p>
            <a:r>
              <a:rPr lang="pt-PT" noProof="0" dirty="0" err="1"/>
              <a:t>Garch</a:t>
            </a:r>
            <a:endParaRPr lang="pt-PT" noProof="0" dirty="0"/>
          </a:p>
          <a:p>
            <a:r>
              <a:rPr lang="pt-PT" noProof="0" dirty="0" err="1"/>
              <a:t>Ets</a:t>
            </a:r>
            <a:endParaRPr lang="pt-PT" noProof="0" dirty="0"/>
          </a:p>
          <a:p>
            <a:r>
              <a:rPr lang="pt-PT" noProof="0" dirty="0" err="1"/>
              <a:t>stlm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45113-9994-6960-68C9-5A5F2739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7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33933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E2891-2740-CDD1-8465-A07A4E46B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Sarima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4387D-FF72-B553-33E1-7FE79CD4B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806" y="2638052"/>
            <a:ext cx="4669996" cy="3101983"/>
          </a:xfrm>
        </p:spPr>
        <p:txBody>
          <a:bodyPr/>
          <a:lstStyle/>
          <a:p>
            <a:pPr marL="0" indent="0">
              <a:buNone/>
            </a:pPr>
            <a:r>
              <a:rPr lang="pt-PT" noProof="0" dirty="0"/>
              <a:t>3 modelos:</a:t>
            </a:r>
          </a:p>
          <a:p>
            <a:r>
              <a:rPr lang="pt-PT" noProof="0" dirty="0"/>
              <a:t>Tendo em conta análise ACF e PACF: SARIMA(1,1,1)(1,1,1)[12]</a:t>
            </a:r>
          </a:p>
          <a:p>
            <a:r>
              <a:rPr lang="pt-PT" noProof="0" dirty="0"/>
              <a:t>Análise sistemática, critério </a:t>
            </a:r>
            <a:r>
              <a:rPr lang="pt-PT" noProof="0" dirty="0" err="1"/>
              <a:t>AICc</a:t>
            </a:r>
            <a:r>
              <a:rPr lang="pt-PT" noProof="0" dirty="0"/>
              <a:t>: SARIMA(2,0,2)(2,1,0)[12]</a:t>
            </a:r>
          </a:p>
          <a:p>
            <a:r>
              <a:rPr lang="pt-PT" noProof="0" dirty="0"/>
              <a:t>Análise sistemática, critério </a:t>
            </a:r>
            <a:r>
              <a:rPr lang="pt-PT" noProof="0" dirty="0" err="1"/>
              <a:t>AICc</a:t>
            </a:r>
            <a:r>
              <a:rPr lang="pt-PT" noProof="0" dirty="0"/>
              <a:t>, forçando d=D=1: SARIMA(0,1,2)(3,1,0)[12]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2EFE0-9E35-4258-49A5-8DBE620B8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8</a:t>
            </a:fld>
            <a:endParaRPr lang="pt-PT" noProof="0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C11B3E53-89CF-FE67-FAC5-3CE1E34E4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590" y="2791333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513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05735-2BE1-48A4-C705-826ADDAA3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Sarima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EAF6-7345-2971-7D85-A8C9BEB55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9</a:t>
            </a:fld>
            <a:endParaRPr lang="pt-PT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E89611-D7A2-21B7-9A84-681EDCC1D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Apesar dos três modelos </a:t>
            </a:r>
            <a:r>
              <a:rPr lang="pt-PT" noProof="0" dirty="0" err="1"/>
              <a:t>aparenteram</a:t>
            </a:r>
            <a:r>
              <a:rPr lang="pt-PT" noProof="0" dirty="0"/>
              <a:t> uma boa modelação dos dados de treino…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42795D-9CB7-1E0B-4BB0-9BB37E6B7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75" y="2803632"/>
            <a:ext cx="3879127" cy="277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E8C77-EC28-7A32-6C82-BB4299D31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SARIMA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F842F-4ADE-7B2E-7358-43E0AAD4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6332694"/>
            <a:ext cx="7729728" cy="501971"/>
          </a:xfrm>
        </p:spPr>
        <p:txBody>
          <a:bodyPr/>
          <a:lstStyle/>
          <a:p>
            <a:r>
              <a:rPr lang="pt-PT" noProof="0" dirty="0"/>
              <a:t>Adicionar prints </a:t>
            </a:r>
            <a:r>
              <a:rPr lang="pt-PT" noProof="0" dirty="0" err="1"/>
              <a:t>ljubox</a:t>
            </a:r>
            <a:r>
              <a:rPr lang="pt-PT" noProof="0" dirty="0"/>
              <a:t> </a:t>
            </a:r>
            <a:r>
              <a:rPr lang="pt-PT" noProof="0" dirty="0" err="1"/>
              <a:t>test</a:t>
            </a:r>
            <a:r>
              <a:rPr lang="pt-PT" noProof="0" dirty="0"/>
              <a:t>: todos apresentam correlação nos </a:t>
            </a:r>
            <a:r>
              <a:rPr lang="pt-PT" noProof="0" dirty="0" err="1"/>
              <a:t>residuos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69205-FC3B-E20F-1E1A-83EDF9E4B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10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6B4D99-8CA3-089E-8CC9-68B962309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442" y="2642379"/>
            <a:ext cx="3618971" cy="3101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0B3ED9-137D-E3DA-0B71-A42C2D36A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514" y="2642379"/>
            <a:ext cx="3618971" cy="310197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EEE7A942-51F5-0A34-1CF1-A48F0A116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87" y="2642379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755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DE73E-2930-14C2-F7C0-A12BD90B6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SARIMA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05070-52A0-3C34-E27C-64FD96B72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318" y="5893308"/>
            <a:ext cx="7729728" cy="536477"/>
          </a:xfrm>
        </p:spPr>
        <p:txBody>
          <a:bodyPr/>
          <a:lstStyle/>
          <a:p>
            <a:r>
              <a:rPr lang="pt-PT" noProof="0" dirty="0"/>
              <a:t>Adicionar </a:t>
            </a:r>
            <a:r>
              <a:rPr lang="pt-PT" noProof="0" dirty="0" err="1"/>
              <a:t>ljunbox</a:t>
            </a:r>
            <a:r>
              <a:rPr lang="pt-PT" noProof="0" dirty="0"/>
              <a:t> </a:t>
            </a:r>
            <a:r>
              <a:rPr lang="pt-PT" noProof="0" dirty="0" err="1"/>
              <a:t>test</a:t>
            </a:r>
            <a:r>
              <a:rPr lang="pt-PT" noProof="0" dirty="0"/>
              <a:t> + testes da normalidade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E033A-F85E-3AB1-7AD1-7A59E002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11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8B60D-B511-DDD8-1391-8DACA17C4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2339" y="2416960"/>
            <a:ext cx="5058768" cy="289072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5A67B1E-D1A3-1F7C-FC25-5E2BAA05F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59" y="2311334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76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B9394-E25A-434B-1ED4-8B1E5300B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garch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EC6C3-D577-5969-AB40-78BE17054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Meter print do teste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D62B4-F2AE-EDF1-963C-9A95B9BC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12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905151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21054-B791-0E8D-F4A2-9449DA0A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35646-F64C-C63B-6E0A-CEB796D02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Modelo ajustado tendo em conta o critério </a:t>
            </a:r>
            <a:r>
              <a:rPr lang="pt-PT" noProof="0" dirty="0" err="1"/>
              <a:t>AICc</a:t>
            </a:r>
            <a:r>
              <a:rPr lang="pt-PT" noProof="0" dirty="0"/>
              <a:t>: ETS(M,N,A)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1F28-46B0-7A0C-1133-C2053134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13</a:t>
            </a:fld>
            <a:endParaRPr lang="pt-PT" noProof="0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DCFDF486-7111-BCD9-A357-49C1B9BAF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877" y="3429000"/>
            <a:ext cx="3618970" cy="31019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0AD1D4-D8B9-A2F7-ED5F-98CE1C320566}"/>
              </a:ext>
            </a:extLst>
          </p:cNvPr>
          <p:cNvSpPr txBox="1">
            <a:spLocks/>
          </p:cNvSpPr>
          <p:nvPr/>
        </p:nvSpPr>
        <p:spPr>
          <a:xfrm>
            <a:off x="6096000" y="4168112"/>
            <a:ext cx="3864864" cy="536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noProof="0" dirty="0"/>
              <a:t>Adicionar </a:t>
            </a:r>
            <a:r>
              <a:rPr lang="pt-PT" noProof="0" dirty="0" err="1"/>
              <a:t>ljunbox</a:t>
            </a:r>
            <a:r>
              <a:rPr lang="pt-PT" noProof="0" dirty="0"/>
              <a:t> </a:t>
            </a:r>
            <a:r>
              <a:rPr lang="pt-PT" noProof="0" dirty="0" err="1"/>
              <a:t>test</a:t>
            </a:r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1478907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328C5-0AD1-A216-3125-4D013EC7F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STLM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4EE7D-C711-8EE4-3BC4-CFDCE6EC3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STLM(ARIMA)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1092B-BAE7-48F7-5141-2E786354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14</a:t>
            </a:fld>
            <a:endParaRPr lang="pt-PT" noProof="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26678B-8094-052D-BF72-56A9DA17E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376" y="2370333"/>
            <a:ext cx="4702210" cy="403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356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17125-800D-3264-4C3A-5142C4E6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STLM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16C7A-E699-F41F-DF5A-88F364DCF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6088513"/>
            <a:ext cx="7729728" cy="495167"/>
          </a:xfrm>
        </p:spPr>
        <p:txBody>
          <a:bodyPr/>
          <a:lstStyle/>
          <a:p>
            <a:r>
              <a:rPr lang="pt-PT" noProof="0" dirty="0"/>
              <a:t>Meter </a:t>
            </a:r>
            <a:r>
              <a:rPr lang="pt-PT" noProof="0" dirty="0" err="1"/>
              <a:t>ljobx</a:t>
            </a:r>
            <a:r>
              <a:rPr lang="pt-PT" noProof="0" dirty="0"/>
              <a:t> </a:t>
            </a:r>
            <a:r>
              <a:rPr lang="pt-PT" noProof="0" dirty="0" err="1"/>
              <a:t>test</a:t>
            </a:r>
            <a:r>
              <a:rPr lang="pt-PT" noProof="0" dirty="0"/>
              <a:t> + normalidades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4A3A0-5E1F-EECF-102F-B1943952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15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52768D-8FB6-00E3-9468-CA7FF8583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60" y="2279322"/>
            <a:ext cx="4297161" cy="3683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B2FF41-7B5C-D89A-02B0-F2382BB95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917" y="2603769"/>
            <a:ext cx="5756694" cy="3289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29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CD509-BAC2-1BDA-8B70-939AC903B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50880-08FF-87F1-4D42-777CE189B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ARIMA(1,1,1)(1,1,1)[12]</a:t>
            </a:r>
          </a:p>
          <a:p>
            <a:r>
              <a:rPr lang="pt-PT" noProof="0" dirty="0"/>
              <a:t>STLM(ARIMA)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06C95-933F-B087-1FEF-8C0396EA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16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2190830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E3D8-72F6-E132-CC76-E4FD31D5C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EFA2D-0BB0-7288-0A6D-C3AE8DE2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17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E233F7-DC0C-2B15-93FB-C5FD2C605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997" y="1849557"/>
            <a:ext cx="4425351" cy="2528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B211940-919A-0A4D-CFC2-B14B107DC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54" y="4074474"/>
            <a:ext cx="4871170" cy="278352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6F45EE2-1F77-AEF7-C186-B7EA3D0DC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15050" y="1709715"/>
            <a:ext cx="4606288" cy="2632165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3A110B-6E25-D030-D35D-08E24B1AF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234" y="4074474"/>
            <a:ext cx="4407185" cy="251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282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7FED4-5FFE-8D45-DE73-CE55FB9A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385F4-9AE1-B467-6684-F3D2776C5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Meter métricas de teste e treino para cada um deles (tabela)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E87AD-9993-FAAF-D079-5E9AA0CCB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18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2038283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7C9A-F383-59C2-179C-D2F24630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71BBE-7F5D-87F1-A17B-B3577935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117" y="2638043"/>
            <a:ext cx="4721755" cy="3101983"/>
          </a:xfrm>
        </p:spPr>
        <p:txBody>
          <a:bodyPr/>
          <a:lstStyle/>
          <a:p>
            <a:pPr marL="0" indent="0">
              <a:buNone/>
            </a:pPr>
            <a:r>
              <a:rPr lang="pt-PT" noProof="0" dirty="0"/>
              <a:t>Intervalos de previsão</a:t>
            </a:r>
          </a:p>
          <a:p>
            <a:r>
              <a:rPr lang="pt-PT" noProof="0" dirty="0"/>
              <a:t>Ambos os modelos com cobertura total</a:t>
            </a:r>
          </a:p>
          <a:p>
            <a:r>
              <a:rPr lang="pt-PT" noProof="0" dirty="0"/>
              <a:t>Amplitude média:</a:t>
            </a:r>
          </a:p>
          <a:p>
            <a:pPr lvl="1"/>
            <a:r>
              <a:rPr lang="pt-PT" noProof="0" dirty="0"/>
              <a:t>SARIMA: 4378</a:t>
            </a:r>
          </a:p>
          <a:p>
            <a:pPr lvl="1"/>
            <a:r>
              <a:rPr lang="pt-PT" noProof="0" dirty="0"/>
              <a:t>STLM: 3639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5527F-1452-64F9-1CDC-D1D11A0C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19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D96E7C-4393-9311-C20A-78416316F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690" y="2360235"/>
            <a:ext cx="64008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093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11C9A-6F0B-0F67-0243-23BBC786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discussão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1B964-4462-9626-3781-F8C674D1D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Escolha do melhor modelo + justificação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74295-FD44-721B-3566-259C5C84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20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408408701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81</TotalTime>
  <Words>333</Words>
  <Application>Microsoft Macintosh PowerPoint</Application>
  <PresentationFormat>Widescreen</PresentationFormat>
  <Paragraphs>90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Cambria Math</vt:lpstr>
      <vt:lpstr>Gill Sans MT</vt:lpstr>
      <vt:lpstr>Parcel</vt:lpstr>
      <vt:lpstr>Modelação e Previsão do Consumo Mensal de Eletricidade em Espanha</vt:lpstr>
      <vt:lpstr>Enquadramento / Motivação</vt:lpstr>
      <vt:lpstr>Análise Exploratória dos Dados</vt:lpstr>
      <vt:lpstr>Estacionariedade</vt:lpstr>
      <vt:lpstr>Estacionariedade</vt:lpstr>
      <vt:lpstr>Estacionariedade</vt:lpstr>
      <vt:lpstr>Propostas de Modelos</vt:lpstr>
      <vt:lpstr>Sarima</vt:lpstr>
      <vt:lpstr>Sarima</vt:lpstr>
      <vt:lpstr>SARIMA</vt:lpstr>
      <vt:lpstr>SARIMA</vt:lpstr>
      <vt:lpstr>garch</vt:lpstr>
      <vt:lpstr>ETS</vt:lpstr>
      <vt:lpstr>STLM</vt:lpstr>
      <vt:lpstr>STLM</vt:lpstr>
      <vt:lpstr>Previsão de Observações Futuras</vt:lpstr>
      <vt:lpstr>Previsão de Observações Futuras</vt:lpstr>
      <vt:lpstr>Previsão de Observações Futuras</vt:lpstr>
      <vt:lpstr>Previsão de Observações Futuras</vt:lpstr>
      <vt:lpstr>discussão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40</cp:revision>
  <dcterms:created xsi:type="dcterms:W3CDTF">2025-06-05T16:34:41Z</dcterms:created>
  <dcterms:modified xsi:type="dcterms:W3CDTF">2025-06-10T14:35:40Z</dcterms:modified>
</cp:coreProperties>
</file>