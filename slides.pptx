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708" r:id="rId1"/>
  </p:sldMasterIdLst>
  <p:notesMasterIdLst>
    <p:notesMasterId r:id="rId22"/>
  </p:notesMasterIdLst>
  <p:sldIdLst>
    <p:sldId id="256" r:id="rId2"/>
    <p:sldId id="257" r:id="rId3"/>
    <p:sldId id="269" r:id="rId4"/>
    <p:sldId id="270" r:id="rId5"/>
    <p:sldId id="271" r:id="rId6"/>
    <p:sldId id="272" r:id="rId7"/>
    <p:sldId id="261" r:id="rId8"/>
    <p:sldId id="274" r:id="rId9"/>
    <p:sldId id="273" r:id="rId10"/>
    <p:sldId id="275" r:id="rId11"/>
    <p:sldId id="276" r:id="rId12"/>
    <p:sldId id="264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6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217"/>
    <p:restoredTop sz="94255"/>
  </p:normalViewPr>
  <p:slideViewPr>
    <p:cSldViewPr snapToGrid="0">
      <p:cViewPr varScale="1">
        <p:scale>
          <a:sx n="74" d="100"/>
          <a:sy n="74" d="100"/>
        </p:scale>
        <p:origin x="13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3EA34C-9AFF-2249-84E1-B124EBF18696}" type="datetimeFigureOut">
              <a:rPr lang="en-PT" smtClean="0"/>
              <a:t>07/06/2025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26933-0EE0-0045-9B90-D437E95F6CD2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12192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1789D-7397-0746-936F-FCB6CAF06201}" type="datetime1">
              <a:rPr lang="en-US" smtClean="0"/>
              <a:t>6/7/25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38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11E54-4010-5F41-84CF-866B4D0376CF}" type="datetime1">
              <a:rPr lang="en-US" smtClean="0"/>
              <a:t>6/7/25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864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6AE9-091D-ED42-A71D-D8734B448316}" type="datetime1">
              <a:rPr lang="en-US" smtClean="0"/>
              <a:t>6/7/25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804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45AE2-353B-DB4A-8156-9FBD00A5A056}" type="datetime1">
              <a:rPr lang="en-US" smtClean="0"/>
              <a:t>6/7/25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163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D93A5-F0AA-E141-BE1C-D49DBFA49EA8}" type="datetime1">
              <a:rPr lang="en-US" smtClean="0"/>
              <a:t>6/7/25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1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4D84E-9AFE-504A-8542-6872970C604D}" type="datetime1">
              <a:rPr lang="en-US" smtClean="0"/>
              <a:t>6/7/25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996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9C2D1-D34F-D146-B405-1241C291F4C3}" type="datetime1">
              <a:rPr lang="en-US" smtClean="0"/>
              <a:t>6/7/25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7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37B4C-699E-0047-A2F3-3BAF77E1D80C}" type="datetime1">
              <a:rPr lang="en-US" smtClean="0"/>
              <a:t>6/7/25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698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BADFC25F-17A7-FB4A-ACDE-8081FA614CF0}" type="datetime1">
              <a:rPr lang="en-US" smtClean="0"/>
              <a:t>6/7/25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338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1B379-C2BC-FC44-96DD-FCABC7F3A568}" type="datetime1">
              <a:rPr lang="en-US" smtClean="0"/>
              <a:t>6/7/25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489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F1242-A42E-D349-AEE9-A0D9932A8217}" type="datetime1">
              <a:rPr lang="en-US" smtClean="0"/>
              <a:t>6/7/25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577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91B09D2-E2B7-8A49-9CAD-1FE5553BC897}" type="datetime1">
              <a:rPr lang="en-US" smtClean="0"/>
              <a:t>6/7/25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399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CE8DE-3DDA-4765-0741-24A5D8CF76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PT" dirty="0"/>
              <a:t>Modelação e Previsão do Consumo Mensal de Eletricidade em Espanha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3363CD-49EC-5C9C-B2D2-419361C805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</a:t>
            </a:r>
            <a:r>
              <a:rPr lang="en-PT" dirty="0"/>
              <a:t>presentacao com max de 10min</a:t>
            </a:r>
          </a:p>
          <a:p>
            <a:r>
              <a:rPr lang="en-PT" dirty="0"/>
              <a:t>+ logo uni + autor</a:t>
            </a:r>
          </a:p>
        </p:txBody>
      </p:sp>
    </p:spTree>
    <p:extLst>
      <p:ext uri="{BB962C8B-B14F-4D97-AF65-F5344CB8AC3E}">
        <p14:creationId xmlns:p14="http://schemas.microsoft.com/office/powerpoint/2010/main" val="293016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F2614-9103-D3BC-BC7A-17E7791C5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Enquadramento / Motivação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A0A52-3A37-BC18-0717-681311D82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D3AFF-C7D1-93C0-AFDB-AC5A50143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514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8D0CC-ADD0-7AA2-B89A-A1592D8CE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Análise Exploratória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3DBDC-37C7-EF80-01A4-FE42238D9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403" y="2263470"/>
            <a:ext cx="4037462" cy="3542419"/>
          </a:xfrm>
        </p:spPr>
        <p:txBody>
          <a:bodyPr>
            <a:normAutofit/>
          </a:bodyPr>
          <a:lstStyle/>
          <a:p>
            <a:r>
              <a:rPr lang="en-GB" dirty="0"/>
              <a:t>C</a:t>
            </a:r>
            <a:r>
              <a:rPr lang="en-PT" dirty="0"/>
              <a:t>onsumo mensal de eletricidade (GWh) em Espanha (206 obs.)</a:t>
            </a:r>
          </a:p>
          <a:p>
            <a:r>
              <a:rPr lang="en-GB" dirty="0"/>
              <a:t>J</a:t>
            </a:r>
            <a:r>
              <a:rPr lang="en-PT" dirty="0"/>
              <a:t>aneiro de 2008 a fevereiro de 2025</a:t>
            </a:r>
          </a:p>
          <a:p>
            <a:r>
              <a:rPr lang="en-PT" dirty="0"/>
              <a:t>Separação em teste e treino (80/20)</a:t>
            </a:r>
          </a:p>
          <a:p>
            <a:endParaRPr lang="en-PT" dirty="0"/>
          </a:p>
          <a:p>
            <a:r>
              <a:rPr lang="en-PT" dirty="0"/>
              <a:t>Variância constante TALVEZ</a:t>
            </a:r>
          </a:p>
          <a:p>
            <a:r>
              <a:rPr lang="en-PT" dirty="0"/>
              <a:t>Sazonalidade SIM</a:t>
            </a:r>
          </a:p>
          <a:p>
            <a:r>
              <a:rPr lang="en-PT" dirty="0"/>
              <a:t>Tendência TALVEZ</a:t>
            </a:r>
          </a:p>
          <a:p>
            <a:pPr marL="0" indent="0">
              <a:buNone/>
            </a:pPr>
            <a:endParaRPr lang="en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822E4-D610-308F-EAB5-826D2A3E6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7CC790-6D73-F6D2-AACC-9E405772C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054" y="1875493"/>
            <a:ext cx="4345748" cy="2483285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E9DD2E6-222E-A3A6-FBB4-901B4A096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504" y="4471196"/>
            <a:ext cx="3696847" cy="211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757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12C6A-49ED-731B-2BFC-634C3B9D9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Estacionariedade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087D4-6F93-F06E-BC3F-71063220D8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9619" y="2806749"/>
            <a:ext cx="3365433" cy="3101983"/>
          </a:xfrm>
        </p:spPr>
        <p:txBody>
          <a:bodyPr>
            <a:normAutofit lnSpcReduction="10000"/>
          </a:bodyPr>
          <a:lstStyle/>
          <a:p>
            <a:r>
              <a:rPr lang="pt-PT" noProof="0" dirty="0" err="1"/>
              <a:t>Heterocedasticidade</a:t>
            </a:r>
            <a:r>
              <a:rPr lang="en-GB" dirty="0"/>
              <a:t>? :</a:t>
            </a:r>
          </a:p>
          <a:p>
            <a:r>
              <a:rPr lang="en-GB" dirty="0"/>
              <a:t>T</a:t>
            </a:r>
            <a:r>
              <a:rPr lang="en-PT" dirty="0"/>
              <a:t>ransformação Box-Cox</a:t>
            </a:r>
          </a:p>
          <a:p>
            <a:r>
              <a:rPr lang="en-GB" dirty="0"/>
              <a:t>T</a:t>
            </a:r>
            <a:r>
              <a:rPr lang="en-PT" dirty="0"/>
              <a:t>este de Breusch-Pagan</a:t>
            </a:r>
          </a:p>
          <a:p>
            <a:pPr lvl="1"/>
            <a:r>
              <a:rPr lang="en-GB" dirty="0"/>
              <a:t>P</a:t>
            </a:r>
            <a:r>
              <a:rPr lang="en-PT" dirty="0"/>
              <a:t>-valor de 0.55, não rej. </a:t>
            </a:r>
            <a:r>
              <a:rPr lang="en-GB" dirty="0"/>
              <a:t>h</a:t>
            </a:r>
            <a:r>
              <a:rPr lang="en-PT" dirty="0"/>
              <a:t>ip nula não há evidência de heterecodesticidade</a:t>
            </a:r>
          </a:p>
          <a:p>
            <a:endParaRPr lang="en-PT" dirty="0"/>
          </a:p>
          <a:p>
            <a:r>
              <a:rPr lang="en-PT" dirty="0"/>
              <a:t>Nenhuma transformação aplicada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530C9-0EF3-2398-3382-43598D7FE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1339A314-16FC-22F9-F808-BC4B6487A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633" y="2681506"/>
            <a:ext cx="2892784" cy="371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288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A15AA-3161-96F6-D31C-0510F7EDE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Estacionariedade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F941-CDEA-91CA-8C4D-C19BFC3B1B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54" y="2296521"/>
            <a:ext cx="7729728" cy="402611"/>
          </a:xfrm>
        </p:spPr>
        <p:txBody>
          <a:bodyPr/>
          <a:lstStyle/>
          <a:p>
            <a:r>
              <a:rPr lang="en-GB" dirty="0"/>
              <a:t>E</a:t>
            </a:r>
            <a:r>
              <a:rPr lang="en-PT" dirty="0"/>
              <a:t>m termos de sazonalidade e tendência: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13FAAE-B77D-D4D1-1EFE-A354527BC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886311BB-016B-BC49-7F9B-F1A0F0936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54" y="2922114"/>
            <a:ext cx="3618970" cy="31019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2CFB73-040D-F801-3359-DE4ACD5035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514" y="2922114"/>
            <a:ext cx="3618971" cy="31019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646554-9501-62CC-C243-5A559C4DC4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0605" y="2928140"/>
            <a:ext cx="3611941" cy="30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296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8A76-762F-4B54-C047-3CE1AA809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Estacionariedade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3A18E-A61C-4CC5-A877-3160AF720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T" dirty="0"/>
              <a:t>Dickey-Fuller aumentado</a:t>
            </a:r>
          </a:p>
          <a:p>
            <a:r>
              <a:rPr lang="en-PT" dirty="0"/>
              <a:t>KPSS</a:t>
            </a:r>
          </a:p>
          <a:p>
            <a:endParaRPr lang="en-PT" dirty="0"/>
          </a:p>
          <a:p>
            <a:r>
              <a:rPr lang="en-PT" dirty="0"/>
              <a:t>Ambos indicam que série original não é estacionária, mas a difereniação de ordem 1 e 12 tornam-a estacionária</a:t>
            </a:r>
          </a:p>
          <a:p>
            <a:r>
              <a:rPr lang="en-PT" dirty="0"/>
              <a:t>(print output 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3342A-FA6A-95F8-378F-4F4CC78FF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93581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D7981-DD65-B480-17CF-9BBAC6754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Propostas de Modelos</a:t>
            </a:r>
            <a:endParaRPr lang="en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67C8D-DAFA-6632-8909-60AD0521B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</a:t>
            </a:r>
            <a:r>
              <a:rPr lang="en-PT" dirty="0"/>
              <a:t>arima</a:t>
            </a:r>
          </a:p>
          <a:p>
            <a:r>
              <a:rPr lang="en-GB" dirty="0"/>
              <a:t>G</a:t>
            </a:r>
            <a:r>
              <a:rPr lang="en-PT" dirty="0"/>
              <a:t>arch</a:t>
            </a:r>
          </a:p>
          <a:p>
            <a:r>
              <a:rPr lang="en-GB" dirty="0"/>
              <a:t>E</a:t>
            </a:r>
            <a:r>
              <a:rPr lang="en-PT" dirty="0"/>
              <a:t>ts</a:t>
            </a:r>
          </a:p>
          <a:p>
            <a:r>
              <a:rPr lang="en-PT" dirty="0"/>
              <a:t>stlm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45113-9994-6960-68C9-5A5F27399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39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E2891-2740-CDD1-8465-A07A4E46B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Sarima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4387D-FF72-B553-33E1-7FE79CD4B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1806" y="2638052"/>
            <a:ext cx="4669996" cy="3101983"/>
          </a:xfrm>
        </p:spPr>
        <p:txBody>
          <a:bodyPr/>
          <a:lstStyle/>
          <a:p>
            <a:pPr marL="0" indent="0">
              <a:buNone/>
            </a:pPr>
            <a:r>
              <a:rPr lang="en-PT" dirty="0"/>
              <a:t>3 modelos:</a:t>
            </a:r>
          </a:p>
          <a:p>
            <a:r>
              <a:rPr lang="en-PT" dirty="0"/>
              <a:t>Tendo em conta análise ACF e PACF: SARIMA(1,1,1)(1,1,1)[12]</a:t>
            </a:r>
          </a:p>
          <a:p>
            <a:r>
              <a:rPr lang="en-PT" dirty="0"/>
              <a:t>Análise sistemática, critério AICc: SARIMA(2,0,2)(2,1,0)[12]</a:t>
            </a:r>
          </a:p>
          <a:p>
            <a:r>
              <a:rPr lang="en-PT" dirty="0"/>
              <a:t>Análise sistemática, critério AICc, forçando d=D=1: SARIMA(0,1,2)(3,1,0)[12]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2EFE0-9E35-4258-49A5-8DBE620B8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C11B3E53-89CF-FE67-FAC5-3CE1E34E4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590" y="2791333"/>
            <a:ext cx="3618970" cy="310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513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05735-2BE1-48A4-C705-826ADDAA3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Sarima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1EAF6-7345-2971-7D85-A8C9BEB55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E89611-D7A2-21B7-9A84-681EDCC1D2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T" dirty="0"/>
              <a:t>Apesar dos três modelos aparenteram uma boa modelação dos dados de treino…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42795D-9CB7-1E0B-4BB0-9BB37E6B7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75" y="2803632"/>
            <a:ext cx="3879127" cy="2770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E8C77-EC28-7A32-6C82-BB4299D31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SARIMA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F842F-4ADE-7B2E-7358-43E0AAD4F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6332694"/>
            <a:ext cx="7729728" cy="501971"/>
          </a:xfrm>
        </p:spPr>
        <p:txBody>
          <a:bodyPr/>
          <a:lstStyle/>
          <a:p>
            <a:r>
              <a:rPr lang="en-GB" dirty="0"/>
              <a:t>A</a:t>
            </a:r>
            <a:r>
              <a:rPr lang="en-PT" dirty="0"/>
              <a:t>dicionar prints ljubox test: todos apresentam correlação nos residuos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69205-FC3B-E20F-1E1A-83EDF9E4B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6B4D99-8CA3-089E-8CC9-68B962309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442" y="2642379"/>
            <a:ext cx="3618971" cy="31019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0B3ED9-137D-E3DA-0B71-A42C2D36A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514" y="2642379"/>
            <a:ext cx="3618971" cy="3101976"/>
          </a:xfrm>
          <a:prstGeom prst="rect">
            <a:avLst/>
          </a:prstGeom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EEE7A942-51F5-0A34-1CF1-A48F0A1163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587" y="2642379"/>
            <a:ext cx="3618970" cy="310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755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DE73E-2930-14C2-F7C0-A12BD90B6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SARIMA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05070-52A0-3C34-E27C-64FD96B72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318" y="5893308"/>
            <a:ext cx="7729728" cy="536477"/>
          </a:xfrm>
        </p:spPr>
        <p:txBody>
          <a:bodyPr/>
          <a:lstStyle/>
          <a:p>
            <a:r>
              <a:rPr lang="en-GB" dirty="0"/>
              <a:t>A</a:t>
            </a:r>
            <a:r>
              <a:rPr lang="en-PT" dirty="0"/>
              <a:t>dicionar ljunbox test + testes da normalidade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E033A-F85E-3AB1-7AD1-7A59E0025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98B60D-B511-DDD8-1391-8DACA17C4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2339" y="2416960"/>
            <a:ext cx="5058768" cy="289072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5A67B1E-D1A3-1F7C-FC25-5E2BAA05F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559" y="2311334"/>
            <a:ext cx="3618970" cy="310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576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B9394-E25A-434B-1ED4-8B1E5300B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garch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EC6C3-D577-5969-AB40-78BE17054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PT" dirty="0"/>
              <a:t>eter print do teste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D62B4-F2AE-EDF1-963C-9A95B9BC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51514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21054-B791-0E8D-F4A2-9449DA0A1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35646-F64C-C63B-6E0A-CEB796D02F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T" dirty="0"/>
              <a:t>Modelo ajustado tendo em conta o critério AICc: ETS(M,N,A)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1F28-46B0-7A0C-1133-C20531347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DCFDF486-7111-BCD9-A357-49C1B9BAF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877" y="3429000"/>
            <a:ext cx="3618970" cy="310197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0AD1D4-D8B9-A2F7-ED5F-98CE1C320566}"/>
              </a:ext>
            </a:extLst>
          </p:cNvPr>
          <p:cNvSpPr txBox="1">
            <a:spLocks/>
          </p:cNvSpPr>
          <p:nvPr/>
        </p:nvSpPr>
        <p:spPr>
          <a:xfrm>
            <a:off x="6096000" y="4168112"/>
            <a:ext cx="3864864" cy="5364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A</a:t>
            </a:r>
            <a:r>
              <a:rPr lang="en-PT" dirty="0"/>
              <a:t>dicionar ljunbox test</a:t>
            </a:r>
          </a:p>
        </p:txBody>
      </p:sp>
    </p:spTree>
    <p:extLst>
      <p:ext uri="{BB962C8B-B14F-4D97-AF65-F5344CB8AC3E}">
        <p14:creationId xmlns:p14="http://schemas.microsoft.com/office/powerpoint/2010/main" val="1478907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328C5-0AD1-A216-3125-4D013EC7F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STLM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4EE7D-C711-8EE4-3BC4-CFDCE6EC3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T" dirty="0"/>
              <a:t>STLM(ARIMA)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1092B-BAE7-48F7-5141-2E7863541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C26678B-8094-052D-BF72-56A9DA17E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9376" y="2370333"/>
            <a:ext cx="4702210" cy="4030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356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17125-800D-3264-4C3A-5142C4E62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STLM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16C7A-E699-F41F-DF5A-88F364DCF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6088513"/>
            <a:ext cx="7729728" cy="495167"/>
          </a:xfrm>
        </p:spPr>
        <p:txBody>
          <a:bodyPr/>
          <a:lstStyle/>
          <a:p>
            <a:r>
              <a:rPr lang="en-GB" dirty="0"/>
              <a:t>M</a:t>
            </a:r>
            <a:r>
              <a:rPr lang="en-PT" dirty="0"/>
              <a:t>eter ljobx test + normalidades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54A3A0-5E1F-EECF-102F-B19439528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52768D-8FB6-00E3-9468-CA7FF8583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60" y="2279322"/>
            <a:ext cx="4297161" cy="36832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B2FF41-7B5C-D89A-02B0-F2382BB95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9917" y="2603769"/>
            <a:ext cx="5756694" cy="3289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8290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CD509-BAC2-1BDA-8B70-939AC903B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Previsão de Observações Futuras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50880-08FF-87F1-4D42-777CE189B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T" dirty="0"/>
              <a:t>ARIMA(1,1,1)(1,1,1)[12]</a:t>
            </a:r>
          </a:p>
          <a:p>
            <a:r>
              <a:rPr lang="en-PT" dirty="0"/>
              <a:t>STLM(ARIMA)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06C95-933F-B087-1FEF-8C0396EA0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830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1E3D8-72F6-E132-CC76-E4FD31D5C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Previsão de Observações Futuras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1EFA2D-0BB0-7288-0A6D-C3AE8DE2A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E233F7-DC0C-2B15-93FB-C5FD2C605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8997" y="1849557"/>
            <a:ext cx="4425351" cy="2528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B211940-919A-0A4D-CFC2-B14B107DC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154" y="4074474"/>
            <a:ext cx="4871170" cy="2783526"/>
          </a:xfrm>
          <a:prstGeom prst="rect">
            <a:avLst/>
          </a:prstGeom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06F45EE2-1F77-AEF7-C186-B7EA3D0DCF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515050" y="1709715"/>
            <a:ext cx="4606288" cy="2632165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3A110B-6E25-D030-D35D-08E24B1AF4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6234" y="4074474"/>
            <a:ext cx="4407185" cy="251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2826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7FED4-5FFE-8D45-DE73-CE55FB9AC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Previsão de Observações Futuras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385F4-9AE1-B467-6684-F3D2776C5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PT" dirty="0"/>
              <a:t>eter métricas de teste e treino para cada um deles (tabela)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E87AD-9993-FAAF-D079-5E9AA0CCB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283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27C9A-F383-59C2-179C-D2F24630A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Previsão de Observações Futuras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71BBE-7F5D-87F1-A17B-B3577935C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117" y="2638043"/>
            <a:ext cx="4721755" cy="3101983"/>
          </a:xfrm>
        </p:spPr>
        <p:txBody>
          <a:bodyPr/>
          <a:lstStyle/>
          <a:p>
            <a:pPr marL="0" indent="0">
              <a:buNone/>
            </a:pPr>
            <a:r>
              <a:rPr lang="en-PT" dirty="0"/>
              <a:t>Intervalos de previsão</a:t>
            </a:r>
          </a:p>
          <a:p>
            <a:r>
              <a:rPr lang="en-PT" dirty="0"/>
              <a:t>Ambos os modelos com cobertura total</a:t>
            </a:r>
          </a:p>
          <a:p>
            <a:r>
              <a:rPr lang="en-PT" dirty="0"/>
              <a:t>Amplitude média:</a:t>
            </a:r>
          </a:p>
          <a:p>
            <a:pPr lvl="1"/>
            <a:r>
              <a:rPr lang="en-PT" dirty="0"/>
              <a:t>SARIMA: 4378</a:t>
            </a:r>
          </a:p>
          <a:p>
            <a:pPr lvl="1"/>
            <a:r>
              <a:rPr lang="en-PT" dirty="0"/>
              <a:t>STLM: 3639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5527F-1452-64F9-1CDC-D1D11A0C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D96E7C-4393-9311-C20A-78416316F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690" y="2360235"/>
            <a:ext cx="64008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093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11C9A-6F0B-0F67-0243-23BBC786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discussão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1B964-4462-9626-3781-F8C674D1D6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</a:t>
            </a:r>
            <a:r>
              <a:rPr lang="en-PT" dirty="0"/>
              <a:t>scolha do melhor modelo + justificação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74295-FD44-721B-3566-259C5C84E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087018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71C241A9-A460-4AD1-916F-25308628A5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49</TotalTime>
  <Words>359</Words>
  <Application>Microsoft Macintosh PowerPoint</Application>
  <PresentationFormat>Widescreen</PresentationFormat>
  <Paragraphs>85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Gill Sans MT</vt:lpstr>
      <vt:lpstr>Parcel</vt:lpstr>
      <vt:lpstr>Modelação e Previsão do Consumo Mensal de Eletricidade em Espanha</vt:lpstr>
      <vt:lpstr>Enquadramento / Motivação</vt:lpstr>
      <vt:lpstr>Análise Exploratória dos Dados</vt:lpstr>
      <vt:lpstr>Estacionariedade</vt:lpstr>
      <vt:lpstr>Estacionariedade</vt:lpstr>
      <vt:lpstr>Estacionariedade</vt:lpstr>
      <vt:lpstr>Propostas de Modelos</vt:lpstr>
      <vt:lpstr>Sarima</vt:lpstr>
      <vt:lpstr>Sarima</vt:lpstr>
      <vt:lpstr>SARIMA</vt:lpstr>
      <vt:lpstr>SARIMA</vt:lpstr>
      <vt:lpstr>garch</vt:lpstr>
      <vt:lpstr>ETS</vt:lpstr>
      <vt:lpstr>STLM</vt:lpstr>
      <vt:lpstr>STLM</vt:lpstr>
      <vt:lpstr>Previsão de Observações Futuras</vt:lpstr>
      <vt:lpstr>Previsão de Observações Futuras</vt:lpstr>
      <vt:lpstr>Previsão de Observações Futuras</vt:lpstr>
      <vt:lpstr>Previsão de Observações Futuras</vt:lpstr>
      <vt:lpstr>discussão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C. Veríssimo</dc:creator>
  <cp:lastModifiedBy>Hugo C. Veríssimo</cp:lastModifiedBy>
  <cp:revision>34</cp:revision>
  <dcterms:created xsi:type="dcterms:W3CDTF">2025-06-05T16:34:41Z</dcterms:created>
  <dcterms:modified xsi:type="dcterms:W3CDTF">2025-06-07T20:43:13Z</dcterms:modified>
</cp:coreProperties>
</file>